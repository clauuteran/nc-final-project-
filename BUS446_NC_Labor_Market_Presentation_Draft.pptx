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125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by introducing the project as a business analytics portfolio case focused on North Carolina labor market conditions.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F2937"/>
                </a:solidFill>
              </a:rPr>
              <a:t>Talk track</a:t>
            </a:r>
            <a:endParaRPr lang="en-US"/>
          </a:p>
          <a:p>
            <a:r>
              <a:rPr lang="en-US">
                <a:solidFill>
                  <a:srgbClr val="1F2937"/>
                </a:solidFill>
              </a:rPr>
              <a:t>• Point out the overall direction </a:t>
            </a:r>
            <a:r>
              <a:rPr lang="en-US" err="1">
                <a:solidFill>
                  <a:srgbClr val="1F2937"/>
                </a:solidFill>
              </a:rPr>
              <a:t>ofeach</a:t>
            </a:r>
            <a:r>
              <a:rPr lang="en-US">
                <a:solidFill>
                  <a:srgbClr val="1F2937"/>
                </a:solidFill>
              </a:rPr>
              <a:t> variable</a:t>
            </a:r>
            <a:endParaRPr lang="en-US"/>
          </a:p>
          <a:p>
            <a:r>
              <a:rPr lang="en-US">
                <a:solidFill>
                  <a:srgbClr val="1F2937"/>
                </a:solidFill>
              </a:rPr>
              <a:t>• Identify years with major shifts</a:t>
            </a:r>
            <a:endParaRPr lang="en-US"/>
          </a:p>
          <a:p>
            <a:r>
              <a:rPr lang="en-US">
                <a:solidFill>
                  <a:srgbClr val="1F2937"/>
                </a:solidFill>
              </a:rPr>
              <a:t>• Explain whether wage </a:t>
            </a:r>
            <a:r>
              <a:rPr lang="en-US" err="1">
                <a:solidFill>
                  <a:srgbClr val="1F2937"/>
                </a:solidFill>
              </a:rPr>
              <a:t>growthmoves</a:t>
            </a:r>
            <a:r>
              <a:rPr lang="en-US">
                <a:solidFill>
                  <a:srgbClr val="1F2937"/>
                </a:solidFill>
              </a:rPr>
              <a:t> with or </a:t>
            </a:r>
            <a:r>
              <a:rPr lang="en-US" err="1">
                <a:solidFill>
                  <a:srgbClr val="1F2937"/>
                </a:solidFill>
              </a:rPr>
              <a:t>againstunemployment</a:t>
            </a:r>
            <a:r>
              <a:rPr lang="en-US">
                <a:solidFill>
                  <a:srgbClr val="1F2937"/>
                </a:solidFill>
              </a:rPr>
              <a:t> changes</a:t>
            </a:r>
          </a:p>
          <a:p>
            <a:endParaRPr lang="en-US">
              <a:solidFill>
                <a:srgbClr val="1F2937"/>
              </a:solidFill>
            </a:endParaRPr>
          </a:p>
          <a:p>
            <a:r>
              <a:rPr lang="en-US">
                <a:solidFill>
                  <a:srgbClr val="1F2937"/>
                </a:solidFill>
              </a:rPr>
              <a:t>Recommended Tableau design</a:t>
            </a:r>
            <a:endParaRPr lang="en-US">
              <a:solidFill>
                <a:srgbClr val="000000"/>
              </a:solidFill>
            </a:endParaRPr>
          </a:p>
          <a:p>
            <a:r>
              <a:rPr lang="en-US">
                <a:solidFill>
                  <a:srgbClr val="1F2937"/>
                </a:solidFill>
              </a:rPr>
              <a:t>Use consistent axis </a:t>
            </a:r>
            <a:r>
              <a:rPr lang="en-US" err="1">
                <a:solidFill>
                  <a:srgbClr val="1F2937"/>
                </a:solidFill>
              </a:rPr>
              <a:t>labels,readable</a:t>
            </a:r>
            <a:r>
              <a:rPr lang="en-US">
                <a:solidFill>
                  <a:srgbClr val="1F2937"/>
                </a:solidFill>
              </a:rPr>
              <a:t> titles, clear colors, </a:t>
            </a:r>
            <a:r>
              <a:rPr lang="en-US" err="1">
                <a:solidFill>
                  <a:srgbClr val="1F2937"/>
                </a:solidFill>
              </a:rPr>
              <a:t>andannotations</a:t>
            </a:r>
            <a:r>
              <a:rPr lang="en-US">
                <a:solidFill>
                  <a:srgbClr val="1F2937"/>
                </a:solidFill>
              </a:rPr>
              <a:t> for major </a:t>
            </a:r>
            <a:r>
              <a:rPr lang="en-US" err="1">
                <a:solidFill>
                  <a:srgbClr val="1F2937"/>
                </a:solidFill>
              </a:rPr>
              <a:t>economicshock</a:t>
            </a:r>
            <a:r>
              <a:rPr lang="en-US">
                <a:solidFill>
                  <a:srgbClr val="1F2937"/>
                </a:solidFill>
              </a:rPr>
              <a:t> periods.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F2937"/>
                </a:solidFill>
              </a:rPr>
              <a:t>What to explain</a:t>
            </a:r>
            <a:endParaRPr lang="en-US"/>
          </a:p>
          <a:p>
            <a:r>
              <a:rPr lang="en-US">
                <a:solidFill>
                  <a:srgbClr val="1F2937"/>
                </a:solidFill>
              </a:rPr>
              <a:t>A negative relationship would suggest wages rise </a:t>
            </a:r>
            <a:r>
              <a:rPr lang="en-US" err="1">
                <a:solidFill>
                  <a:srgbClr val="1F2937"/>
                </a:solidFill>
              </a:rPr>
              <a:t>whenlabor</a:t>
            </a:r>
            <a:r>
              <a:rPr lang="en-US">
                <a:solidFill>
                  <a:srgbClr val="1F2937"/>
                </a:solidFill>
              </a:rPr>
              <a:t> markets are tighter. A weak relationship </a:t>
            </a:r>
            <a:r>
              <a:rPr lang="en-US" err="1">
                <a:solidFill>
                  <a:srgbClr val="1F2937"/>
                </a:solidFill>
              </a:rPr>
              <a:t>meanswage</a:t>
            </a:r>
            <a:r>
              <a:rPr lang="en-US">
                <a:solidFill>
                  <a:srgbClr val="1F2937"/>
                </a:solidFill>
              </a:rPr>
              <a:t> movement may depend on other factors, such </a:t>
            </a:r>
            <a:r>
              <a:rPr lang="en-US" err="1">
                <a:solidFill>
                  <a:srgbClr val="1F2937"/>
                </a:solidFill>
              </a:rPr>
              <a:t>asinflation</a:t>
            </a:r>
            <a:r>
              <a:rPr lang="en-US">
                <a:solidFill>
                  <a:srgbClr val="1F2937"/>
                </a:solidFill>
              </a:rPr>
              <a:t>, industry mix, or productivity.</a:t>
            </a:r>
          </a:p>
          <a:p>
            <a:endParaRPr lang="en-US">
              <a:solidFill>
                <a:srgbClr val="1F2937"/>
              </a:solidFill>
            </a:endParaRPr>
          </a:p>
          <a:p>
            <a:r>
              <a:rPr lang="en-US">
                <a:solidFill>
                  <a:srgbClr val="1F2937"/>
                </a:solidFill>
              </a:rPr>
              <a:t>Evidence to report</a:t>
            </a:r>
            <a:endParaRPr lang="en-US">
              <a:solidFill>
                <a:srgbClr val="000000"/>
              </a:solidFill>
            </a:endParaRPr>
          </a:p>
          <a:p>
            <a:r>
              <a:rPr lang="en-US">
                <a:solidFill>
                  <a:srgbClr val="1F2937"/>
                </a:solidFill>
              </a:rPr>
              <a:t>Correlation coefficient, trend-line direction, R², and </a:t>
            </a:r>
            <a:r>
              <a:rPr lang="en-US" err="1">
                <a:solidFill>
                  <a:srgbClr val="1F2937"/>
                </a:solidFill>
              </a:rPr>
              <a:t>onesentence</a:t>
            </a:r>
            <a:r>
              <a:rPr lang="en-US">
                <a:solidFill>
                  <a:srgbClr val="1F2937"/>
                </a:solidFill>
              </a:rPr>
              <a:t> interpreting practical meaning.</a:t>
            </a:r>
          </a:p>
          <a:p>
            <a:endParaRPr lang="en-US">
              <a:solidFill>
                <a:srgbClr val="1F2937"/>
              </a:solidFill>
            </a:endParaRPr>
          </a:p>
          <a:p>
            <a:r>
              <a:rPr lang="en-US">
                <a:solidFill>
                  <a:srgbClr val="1F2937"/>
                </a:solidFill>
              </a:rPr>
              <a:t>Conclusion format</a:t>
            </a:r>
            <a:endParaRPr lang="en-US">
              <a:solidFill>
                <a:srgbClr val="000000"/>
              </a:solidFill>
            </a:endParaRPr>
          </a:p>
          <a:p>
            <a:r>
              <a:rPr lang="en-US">
                <a:solidFill>
                  <a:srgbClr val="1F2937"/>
                </a:solidFill>
              </a:rPr>
              <a:t>“From 2015–2024, unemployment [rose/fell/fluctuated],while wages [rose/fell]. The relationship appears[strong/moderate/weak] because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97712"/>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Shape 2"/>
          <p:cNvSpPr/>
          <p:nvPr/>
        </p:nvSpPr>
        <p:spPr>
          <a:xfrm>
            <a:off x="6310643" y="312385"/>
            <a:ext cx="5879592" cy="6858000"/>
          </a:xfrm>
          <a:prstGeom prst="rect">
            <a:avLst/>
          </a:prstGeom>
          <a:solidFill>
            <a:srgbClr val="173A5E"/>
          </a:solidFill>
          <a:ln w="12700">
            <a:solidFill>
              <a:srgbClr val="173A5E">
                <a:alpha val="0"/>
              </a:srgbClr>
            </a:solidFill>
            <a:prstDash val="solid"/>
          </a:ln>
        </p:spPr>
        <p:txBody>
          <a:bodyPr/>
          <a:lstStyle/>
          <a:p>
            <a:endParaRPr lang="en-US"/>
          </a:p>
        </p:txBody>
      </p:sp>
      <p:pic>
        <p:nvPicPr>
          <p:cNvPr id="5" name="Image 0" descr="/mnt/data/image(57).png"/>
          <p:cNvPicPr>
            <a:picLocks noChangeAspect="1"/>
          </p:cNvPicPr>
          <p:nvPr/>
        </p:nvPicPr>
        <p:blipFill>
          <a:blip r:embed="rId3"/>
          <a:srcRect l="-14332" t="13110" r="8348" b="-889"/>
          <a:stretch>
            <a:fillRect/>
          </a:stretch>
        </p:blipFill>
        <p:spPr>
          <a:xfrm>
            <a:off x="6473952" y="765544"/>
            <a:ext cx="4892040" cy="2709176"/>
          </a:xfrm>
          <a:prstGeom prst="rect">
            <a:avLst/>
          </a:prstGeom>
        </p:spPr>
      </p:pic>
      <p:sp>
        <p:nvSpPr>
          <p:cNvPr id="6" name="Shape 3"/>
          <p:cNvSpPr/>
          <p:nvPr/>
        </p:nvSpPr>
        <p:spPr>
          <a:xfrm>
            <a:off x="12190235" y="7104463"/>
            <a:ext cx="2349479" cy="893048"/>
          </a:xfrm>
          <a:prstGeom prst="rect">
            <a:avLst/>
          </a:prstGeom>
          <a:solidFill>
            <a:srgbClr val="FFFFFF">
              <a:alpha val="93000"/>
            </a:srgbClr>
          </a:solidFill>
          <a:ln w="12700">
            <a:solidFill>
              <a:srgbClr val="FFFFFF">
                <a:alpha val="0"/>
              </a:srgbClr>
            </a:solidFill>
            <a:prstDash val="solid"/>
          </a:ln>
        </p:spPr>
        <p:txBody>
          <a:bodyPr/>
          <a:lstStyle/>
          <a:p>
            <a:endParaRPr lang="en-US"/>
          </a:p>
        </p:txBody>
      </p:sp>
      <p:sp>
        <p:nvSpPr>
          <p:cNvPr id="7" name="Text 4"/>
          <p:cNvSpPr/>
          <p:nvPr/>
        </p:nvSpPr>
        <p:spPr>
          <a:xfrm>
            <a:off x="640080" y="1051560"/>
            <a:ext cx="5303520" cy="685800"/>
          </a:xfrm>
          <a:prstGeom prst="rect">
            <a:avLst/>
          </a:prstGeom>
          <a:noFill/>
          <a:ln/>
        </p:spPr>
        <p:txBody>
          <a:bodyPr wrap="square" lIns="0" tIns="0" rIns="0" bIns="0" rtlCol="0" anchor="ctr"/>
          <a:lstStyle/>
          <a:p>
            <a:pPr marL="0" indent="0">
              <a:buNone/>
            </a:pPr>
            <a:r>
              <a:rPr lang="en-US" sz="3400" b="1">
                <a:solidFill>
                  <a:srgbClr val="173A5E"/>
                </a:solidFill>
                <a:latin typeface="Aptos Display" pitchFamily="34" charset="0"/>
                <a:ea typeface="Aptos Display" pitchFamily="34" charset="-122"/>
                <a:cs typeface="Aptos Display" pitchFamily="34" charset="-120"/>
              </a:rPr>
              <a:t>North Carolina Labor Market Trends</a:t>
            </a:r>
            <a:endParaRPr lang="en-US" sz="3400"/>
          </a:p>
        </p:txBody>
      </p:sp>
      <p:sp>
        <p:nvSpPr>
          <p:cNvPr id="8" name="Text 5"/>
          <p:cNvSpPr/>
          <p:nvPr/>
        </p:nvSpPr>
        <p:spPr>
          <a:xfrm>
            <a:off x="667512" y="2435352"/>
            <a:ext cx="4800600" cy="777240"/>
          </a:xfrm>
          <a:prstGeom prst="rect">
            <a:avLst/>
          </a:prstGeom>
          <a:noFill/>
          <a:ln/>
        </p:spPr>
        <p:txBody>
          <a:bodyPr wrap="square" lIns="0" tIns="0" rIns="0" bIns="0" rtlCol="0" anchor="ctr">
            <a:normAutofit/>
          </a:bodyPr>
          <a:lstStyle/>
          <a:p>
            <a:r>
              <a:rPr lang="en-US" sz="1700" b="1">
                <a:solidFill>
                  <a:srgbClr val="1F2937"/>
                </a:solidFill>
                <a:ea typeface="+mn-lt"/>
                <a:cs typeface="+mn-lt"/>
              </a:rPr>
              <a:t>Analyzing unemployment, employment levels, wage growth, and economic shocks (</a:t>
            </a:r>
            <a:r>
              <a:rPr lang="es-ES" sz="1700" b="1">
                <a:solidFill>
                  <a:srgbClr val="1F2937"/>
                </a:solidFill>
                <a:ea typeface="+mn-lt"/>
                <a:cs typeface="+mn-lt"/>
              </a:rPr>
              <a:t>2016-2026)</a:t>
            </a:r>
            <a:endParaRPr lang="en-US"/>
          </a:p>
          <a:p>
            <a:pPr marL="0" indent="0">
              <a:buNone/>
            </a:pPr>
            <a:endParaRPr lang="en-US" sz="1700">
              <a:solidFill>
                <a:srgbClr val="1F2937"/>
              </a:solidFill>
            </a:endParaRPr>
          </a:p>
        </p:txBody>
      </p:sp>
      <p:sp>
        <p:nvSpPr>
          <p:cNvPr id="9" name="Shape 6"/>
          <p:cNvSpPr/>
          <p:nvPr/>
        </p:nvSpPr>
        <p:spPr>
          <a:xfrm>
            <a:off x="667512" y="3246120"/>
            <a:ext cx="2423160" cy="320040"/>
          </a:xfrm>
          <a:prstGeom prst="roundRect">
            <a:avLst>
              <a:gd name="adj" fmla="val 22857"/>
            </a:avLst>
          </a:prstGeom>
          <a:solidFill>
            <a:srgbClr val="0B63A3">
              <a:alpha val="94000"/>
            </a:srgbClr>
          </a:solidFill>
          <a:ln w="12700">
            <a:solidFill>
              <a:srgbClr val="0B63A3">
                <a:alpha val="0"/>
              </a:srgbClr>
            </a:solidFill>
            <a:prstDash val="solid"/>
          </a:ln>
        </p:spPr>
        <p:txBody>
          <a:bodyPr/>
          <a:lstStyle/>
          <a:p>
            <a:endParaRPr lang="en-US"/>
          </a:p>
        </p:txBody>
      </p:sp>
      <p:sp>
        <p:nvSpPr>
          <p:cNvPr id="10" name="Text 7"/>
          <p:cNvSpPr/>
          <p:nvPr/>
        </p:nvSpPr>
        <p:spPr>
          <a:xfrm>
            <a:off x="777240" y="3319272"/>
            <a:ext cx="2203704" cy="128016"/>
          </a:xfrm>
          <a:prstGeom prst="rect">
            <a:avLst/>
          </a:prstGeom>
          <a:noFill/>
          <a:ln/>
        </p:spPr>
        <p:txBody>
          <a:bodyPr wrap="square" lIns="0" tIns="0" rIns="0" bIns="0" rtlCol="0" anchor="ctr"/>
          <a:lstStyle/>
          <a:p>
            <a:pPr algn="ctr"/>
            <a:r>
              <a:rPr lang="en-US" sz="850">
                <a:solidFill>
                  <a:srgbClr val="FFFFFF"/>
                </a:solidFill>
                <a:ea typeface="+mn-lt"/>
                <a:cs typeface="+mn-lt"/>
              </a:rPr>
              <a:t>BLS labor market data</a:t>
            </a:r>
            <a:endParaRPr lang="en-US">
              <a:ea typeface="+mn-lt"/>
              <a:cs typeface="+mn-lt"/>
            </a:endParaRPr>
          </a:p>
        </p:txBody>
      </p:sp>
      <p:sp>
        <p:nvSpPr>
          <p:cNvPr id="11" name="Shape 8"/>
          <p:cNvSpPr/>
          <p:nvPr/>
        </p:nvSpPr>
        <p:spPr>
          <a:xfrm>
            <a:off x="3246120" y="3264408"/>
            <a:ext cx="2194560" cy="320040"/>
          </a:xfrm>
          <a:prstGeom prst="roundRect">
            <a:avLst>
              <a:gd name="adj" fmla="val 22857"/>
            </a:avLst>
          </a:prstGeom>
          <a:solidFill>
            <a:srgbClr val="2A9D8F">
              <a:alpha val="94000"/>
            </a:srgbClr>
          </a:solidFill>
          <a:ln w="12700">
            <a:solidFill>
              <a:srgbClr val="2A9D8F">
                <a:alpha val="0"/>
              </a:srgbClr>
            </a:solidFill>
            <a:prstDash val="solid"/>
          </a:ln>
        </p:spPr>
        <p:txBody>
          <a:bodyPr/>
          <a:lstStyle/>
          <a:p>
            <a:endParaRPr lang="en-US"/>
          </a:p>
        </p:txBody>
      </p:sp>
      <p:sp>
        <p:nvSpPr>
          <p:cNvPr id="12" name="Text 9"/>
          <p:cNvSpPr/>
          <p:nvPr/>
        </p:nvSpPr>
        <p:spPr>
          <a:xfrm>
            <a:off x="3355848" y="3319272"/>
            <a:ext cx="1975104" cy="128016"/>
          </a:xfrm>
          <a:prstGeom prst="rect">
            <a:avLst/>
          </a:prstGeom>
          <a:noFill/>
          <a:ln/>
        </p:spPr>
        <p:txBody>
          <a:bodyPr wrap="square" lIns="0" tIns="0" rIns="0" bIns="0" rtlCol="0" anchor="ctr"/>
          <a:lstStyle/>
          <a:p>
            <a:pPr marL="0" indent="0" algn="ctr">
              <a:buNone/>
            </a:pPr>
            <a:r>
              <a:rPr lang="en-US" sz="850">
                <a:solidFill>
                  <a:srgbClr val="FFFFFF"/>
                </a:solidFill>
                <a:ea typeface="+mn-lt"/>
                <a:cs typeface="+mn-lt"/>
              </a:rPr>
              <a:t>Tableau data analysis</a:t>
            </a:r>
            <a:endParaRPr lang="en-US">
              <a:ea typeface="+mn-lt"/>
              <a:cs typeface="+mn-lt"/>
            </a:endParaRPr>
          </a:p>
        </p:txBody>
      </p:sp>
      <p:sp>
        <p:nvSpPr>
          <p:cNvPr id="13" name="Text 10"/>
          <p:cNvSpPr/>
          <p:nvPr/>
        </p:nvSpPr>
        <p:spPr>
          <a:xfrm>
            <a:off x="661416" y="5044440"/>
            <a:ext cx="3657600" cy="502920"/>
          </a:xfrm>
          <a:prstGeom prst="rect">
            <a:avLst/>
          </a:prstGeom>
          <a:noFill/>
          <a:ln/>
        </p:spPr>
        <p:txBody>
          <a:bodyPr wrap="square" lIns="0" tIns="0" rIns="0" bIns="0" rtlCol="0" anchor="ctr"/>
          <a:lstStyle/>
          <a:p>
            <a:pPr marL="0" indent="0">
              <a:buNone/>
            </a:pPr>
            <a:r>
              <a:rPr lang="en-US" sz="1200">
                <a:solidFill>
                  <a:srgbClr val="5B6770"/>
                </a:solidFill>
              </a:rPr>
              <a:t>Group: Claudia &amp; the others</a:t>
            </a:r>
            <a:endParaRPr lang="en-US" sz="1200"/>
          </a:p>
          <a:p>
            <a:pPr marL="0" indent="0">
              <a:buNone/>
            </a:pPr>
            <a:r>
              <a:rPr lang="en-US" sz="1200">
                <a:solidFill>
                  <a:srgbClr val="5B6770"/>
                </a:solidFill>
              </a:rPr>
              <a:t>Course: BUS 446</a:t>
            </a:r>
            <a:endParaRPr lang="en-US" sz="1200"/>
          </a:p>
        </p:txBody>
      </p:sp>
      <p:sp>
        <p:nvSpPr>
          <p:cNvPr id="14" name="Text 11"/>
          <p:cNvSpPr/>
          <p:nvPr/>
        </p:nvSpPr>
        <p:spPr>
          <a:xfrm>
            <a:off x="502920" y="6556248"/>
            <a:ext cx="4754880" cy="146304"/>
          </a:xfrm>
          <a:prstGeom prst="rect">
            <a:avLst/>
          </a:prstGeom>
          <a:noFill/>
          <a:ln/>
        </p:spPr>
        <p:txBody>
          <a:bodyPr wrap="square" lIns="0" tIns="0" rIns="0" bIns="0" rtlCol="0" anchor="ctr"/>
          <a:lstStyle/>
          <a:p>
            <a:r>
              <a:rPr lang="en-US" sz="700">
                <a:solidFill>
                  <a:srgbClr val="8A94A6"/>
                </a:solidFill>
              </a:rPr>
              <a:t>BUS 446 Final Project  |  </a:t>
            </a:r>
            <a:r>
              <a:rPr lang="en-US" sz="700">
                <a:solidFill>
                  <a:srgbClr val="8A94A6"/>
                </a:solidFill>
                <a:latin typeface="Aptos"/>
                <a:cs typeface="Arial"/>
              </a:rPr>
              <a:t>North Carolina labor market analysis</a:t>
            </a:r>
            <a:endParaRPr lang="en-US" sz="700"/>
          </a:p>
        </p:txBody>
      </p:sp>
      <p:sp>
        <p:nvSpPr>
          <p:cNvPr id="15" name="Text 12"/>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01</a:t>
            </a:r>
            <a:endParaRPr lang="en-US" sz="700"/>
          </a:p>
        </p:txBody>
      </p:sp>
      <p:pic>
        <p:nvPicPr>
          <p:cNvPr id="1026" name="Picture 2" descr="North Carolina Maps &amp; Facts - World Atlas">
            <a:extLst>
              <a:ext uri="{FF2B5EF4-FFF2-40B4-BE49-F238E27FC236}">
                <a16:creationId xmlns:a16="http://schemas.microsoft.com/office/drawing/2014/main" id="{35675459-4CD8-71F8-5B4B-1B2AC5CE10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509" y="3492582"/>
            <a:ext cx="4230483" cy="31023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Project Objective &amp; Core Questions</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What the project is about and why the analysis matters</a:t>
            </a:r>
            <a:endParaRPr lang="en-US" sz="950"/>
          </a:p>
        </p:txBody>
      </p:sp>
      <p:sp>
        <p:nvSpPr>
          <p:cNvPr id="6" name="Shape 4"/>
          <p:cNvSpPr/>
          <p:nvPr/>
        </p:nvSpPr>
        <p:spPr>
          <a:xfrm>
            <a:off x="685800" y="1234440"/>
            <a:ext cx="5120640" cy="1325880"/>
          </a:xfrm>
          <a:prstGeom prst="roundRect">
            <a:avLst>
              <a:gd name="adj" fmla="val 5517"/>
            </a:avLst>
          </a:prstGeom>
          <a:solidFill>
            <a:srgbClr val="EEF6FB"/>
          </a:solidFill>
          <a:ln w="12700">
            <a:solidFill>
              <a:srgbClr val="D7DEE8">
                <a:alpha val="70000"/>
              </a:srgbClr>
            </a:solidFill>
            <a:prstDash val="solid"/>
          </a:ln>
        </p:spPr>
        <p:txBody>
          <a:bodyPr/>
          <a:lstStyle/>
          <a:p>
            <a:endParaRPr lang="en-US"/>
          </a:p>
        </p:txBody>
      </p:sp>
      <p:sp>
        <p:nvSpPr>
          <p:cNvPr id="7" name="Text 5"/>
          <p:cNvSpPr/>
          <p:nvPr/>
        </p:nvSpPr>
        <p:spPr>
          <a:xfrm>
            <a:off x="850392" y="1468877"/>
            <a:ext cx="4791456" cy="1097280"/>
          </a:xfrm>
          <a:prstGeom prst="rect">
            <a:avLst/>
          </a:prstGeom>
          <a:noFill/>
          <a:ln/>
        </p:spPr>
        <p:txBody>
          <a:bodyPr wrap="square" lIns="0" tIns="0" rIns="0" bIns="0" rtlCol="0" anchor="ctr">
            <a:normAutofit/>
          </a:bodyPr>
          <a:lstStyle/>
          <a:p>
            <a:pPr marL="0" indent="0">
              <a:buNone/>
            </a:pPr>
            <a:r>
              <a:rPr lang="en-US" sz="1300">
                <a:solidFill>
                  <a:srgbClr val="1F2937"/>
                </a:solidFill>
              </a:rPr>
              <a:t>Business objective</a:t>
            </a:r>
            <a:endParaRPr lang="en-US" sz="1300"/>
          </a:p>
          <a:p>
            <a:r>
              <a:rPr lang="en-US" sz="1300">
                <a:solidFill>
                  <a:srgbClr val="000000"/>
                </a:solidFill>
                <a:latin typeface="Aptos"/>
                <a:cs typeface="Arial"/>
              </a:rPr>
              <a:t>The goal of this project is to understand how key labor market variables interact and change over time. The analysis will focus on identifying patterns between employment, unemployment, and wage growth. </a:t>
            </a:r>
          </a:p>
          <a:p>
            <a:endParaRPr lang="en-US" sz="1300">
              <a:solidFill>
                <a:srgbClr val="000000"/>
              </a:solidFill>
              <a:latin typeface="Aptos"/>
              <a:cs typeface="Arial"/>
            </a:endParaRPr>
          </a:p>
        </p:txBody>
      </p:sp>
      <p:sp>
        <p:nvSpPr>
          <p:cNvPr id="8" name="Shape 6"/>
          <p:cNvSpPr/>
          <p:nvPr/>
        </p:nvSpPr>
        <p:spPr>
          <a:xfrm>
            <a:off x="685800" y="2816352"/>
            <a:ext cx="5120640" cy="713232"/>
          </a:xfrm>
          <a:prstGeom prst="roundRect">
            <a:avLst>
              <a:gd name="adj" fmla="val 10256"/>
            </a:avLst>
          </a:prstGeom>
          <a:solidFill>
            <a:srgbClr val="F5F7FA"/>
          </a:solidFill>
          <a:ln w="12700">
            <a:solidFill>
              <a:srgbClr val="D7DEE8">
                <a:alpha val="70000"/>
              </a:srgbClr>
            </a:solidFill>
            <a:prstDash val="solid"/>
          </a:ln>
        </p:spPr>
        <p:txBody>
          <a:bodyPr/>
          <a:lstStyle/>
          <a:p>
            <a:endParaRPr lang="en-US"/>
          </a:p>
        </p:txBody>
      </p:sp>
      <p:sp>
        <p:nvSpPr>
          <p:cNvPr id="9" name="Text 7"/>
          <p:cNvSpPr/>
          <p:nvPr/>
        </p:nvSpPr>
        <p:spPr>
          <a:xfrm>
            <a:off x="850394" y="2802194"/>
            <a:ext cx="4931964" cy="933184"/>
          </a:xfrm>
          <a:prstGeom prst="rect">
            <a:avLst/>
          </a:prstGeom>
          <a:noFill/>
          <a:ln/>
        </p:spPr>
        <p:txBody>
          <a:bodyPr wrap="square" lIns="0" tIns="0" rIns="0" bIns="0" rtlCol="0" anchor="ctr">
            <a:normAutofit/>
          </a:bodyPr>
          <a:lstStyle/>
          <a:p>
            <a:r>
              <a:rPr lang="en-US" sz="1300">
                <a:solidFill>
                  <a:srgbClr val="000000"/>
                </a:solidFill>
                <a:latin typeface="Aptos"/>
                <a:cs typeface="Arial"/>
              </a:rPr>
              <a:t>Q1 How has the unemployment rate in North Carolina changed from 201</a:t>
            </a:r>
            <a:r>
              <a:rPr lang="es-ES" sz="1300">
                <a:solidFill>
                  <a:srgbClr val="000000"/>
                </a:solidFill>
                <a:latin typeface="Aptos"/>
                <a:cs typeface="Arial"/>
              </a:rPr>
              <a:t>6 </a:t>
            </a:r>
            <a:r>
              <a:rPr lang="en-US" sz="1300">
                <a:solidFill>
                  <a:srgbClr val="000000"/>
                </a:solidFill>
                <a:latin typeface="Aptos"/>
                <a:cs typeface="Arial"/>
              </a:rPr>
              <a:t>to 202</a:t>
            </a:r>
            <a:r>
              <a:rPr lang="es-ES" sz="1300">
                <a:solidFill>
                  <a:srgbClr val="000000"/>
                </a:solidFill>
                <a:latin typeface="Aptos"/>
                <a:cs typeface="Arial"/>
              </a:rPr>
              <a:t>6</a:t>
            </a:r>
            <a:r>
              <a:rPr lang="en-US" sz="1300">
                <a:solidFill>
                  <a:srgbClr val="000000"/>
                </a:solidFill>
                <a:latin typeface="Aptos"/>
                <a:cs typeface="Arial"/>
              </a:rPr>
              <a:t>, and what overall trends can be observed in the labor market during this period ? </a:t>
            </a:r>
            <a:endParaRPr lang="fr-FR"/>
          </a:p>
          <a:p>
            <a:pPr marL="0" indent="0">
              <a:buNone/>
            </a:pPr>
            <a:endParaRPr lang="en-US" sz="1300">
              <a:solidFill>
                <a:srgbClr val="1F2937"/>
              </a:solidFill>
            </a:endParaRPr>
          </a:p>
        </p:txBody>
      </p:sp>
      <p:sp>
        <p:nvSpPr>
          <p:cNvPr id="10" name="Shape 8"/>
          <p:cNvSpPr/>
          <p:nvPr/>
        </p:nvSpPr>
        <p:spPr>
          <a:xfrm>
            <a:off x="685800" y="3730752"/>
            <a:ext cx="5120640" cy="713232"/>
          </a:xfrm>
          <a:prstGeom prst="roundRect">
            <a:avLst>
              <a:gd name="adj" fmla="val 10256"/>
            </a:avLst>
          </a:prstGeom>
          <a:solidFill>
            <a:srgbClr val="F5F7FA"/>
          </a:solidFill>
          <a:ln w="12700">
            <a:solidFill>
              <a:srgbClr val="D7DEE8">
                <a:alpha val="70000"/>
              </a:srgbClr>
            </a:solidFill>
            <a:prstDash val="solid"/>
          </a:ln>
        </p:spPr>
        <p:txBody>
          <a:bodyPr/>
          <a:lstStyle/>
          <a:p>
            <a:endParaRPr lang="en-US"/>
          </a:p>
        </p:txBody>
      </p:sp>
      <p:sp>
        <p:nvSpPr>
          <p:cNvPr id="11" name="Text 9"/>
          <p:cNvSpPr/>
          <p:nvPr/>
        </p:nvSpPr>
        <p:spPr>
          <a:xfrm>
            <a:off x="850392" y="4111104"/>
            <a:ext cx="4958989" cy="657568"/>
          </a:xfrm>
          <a:prstGeom prst="rect">
            <a:avLst/>
          </a:prstGeom>
          <a:noFill/>
          <a:ln/>
        </p:spPr>
        <p:txBody>
          <a:bodyPr wrap="square" lIns="0" tIns="0" rIns="0" bIns="0" rtlCol="0" anchor="ctr">
            <a:normAutofit/>
          </a:bodyPr>
          <a:lstStyle/>
          <a:p>
            <a:r>
              <a:rPr lang="en-US" sz="1300">
                <a:solidFill>
                  <a:srgbClr val="1F2937"/>
                </a:solidFill>
              </a:rPr>
              <a:t>Q2 </a:t>
            </a:r>
            <a:r>
              <a:rPr lang="en" sz="1300">
                <a:solidFill>
                  <a:srgbClr val="000000"/>
                </a:solidFill>
                <a:latin typeface="Aptos"/>
                <a:cs typeface="Arial"/>
              </a:rPr>
              <a:t>What relationship exists between employment levels and average hourly wages in North Carolina, and can increases in employment help explain wage growth ? </a:t>
            </a:r>
            <a:endParaRPr lang="en-US" sz="1300">
              <a:solidFill>
                <a:srgbClr val="000000"/>
              </a:solidFill>
              <a:latin typeface="Aptos"/>
              <a:cs typeface="Arial"/>
            </a:endParaRPr>
          </a:p>
          <a:p>
            <a:pPr marL="0" indent="0">
              <a:buNone/>
            </a:pPr>
            <a:endParaRPr lang="en-US" sz="1300">
              <a:solidFill>
                <a:srgbClr val="1F2937"/>
              </a:solidFill>
            </a:endParaRPr>
          </a:p>
          <a:p>
            <a:endParaRPr lang="en-US" sz="1300">
              <a:solidFill>
                <a:srgbClr val="1F2937"/>
              </a:solidFill>
            </a:endParaRPr>
          </a:p>
        </p:txBody>
      </p:sp>
      <p:sp>
        <p:nvSpPr>
          <p:cNvPr id="12" name="Shape 10"/>
          <p:cNvSpPr/>
          <p:nvPr/>
        </p:nvSpPr>
        <p:spPr>
          <a:xfrm>
            <a:off x="685800" y="4645152"/>
            <a:ext cx="5120640" cy="713232"/>
          </a:xfrm>
          <a:prstGeom prst="roundRect">
            <a:avLst>
              <a:gd name="adj" fmla="val 10256"/>
            </a:avLst>
          </a:prstGeom>
          <a:solidFill>
            <a:srgbClr val="F5F7FA"/>
          </a:solidFill>
          <a:ln w="12700">
            <a:solidFill>
              <a:srgbClr val="D7DEE8">
                <a:alpha val="70000"/>
              </a:srgbClr>
            </a:solidFill>
            <a:prstDash val="solid"/>
          </a:ln>
        </p:spPr>
        <p:txBody>
          <a:bodyPr/>
          <a:lstStyle/>
          <a:p>
            <a:endParaRPr lang="en-US"/>
          </a:p>
        </p:txBody>
      </p:sp>
      <p:sp>
        <p:nvSpPr>
          <p:cNvPr id="13" name="Text 11"/>
          <p:cNvSpPr/>
          <p:nvPr/>
        </p:nvSpPr>
        <p:spPr>
          <a:xfrm>
            <a:off x="850391" y="4647206"/>
            <a:ext cx="4926563" cy="825100"/>
          </a:xfrm>
          <a:prstGeom prst="rect">
            <a:avLst/>
          </a:prstGeom>
          <a:noFill/>
          <a:ln/>
        </p:spPr>
        <p:txBody>
          <a:bodyPr wrap="square" lIns="0" tIns="0" rIns="0" bIns="0" rtlCol="0" anchor="ctr">
            <a:normAutofit/>
          </a:bodyPr>
          <a:lstStyle/>
          <a:p>
            <a:r>
              <a:rPr lang="en" sz="1300">
                <a:solidFill>
                  <a:srgbClr val="000000"/>
                </a:solidFill>
                <a:latin typeface="Aptos"/>
                <a:cs typeface="Arial"/>
              </a:rPr>
              <a:t>Q3 Are changes in unemployment associated with noticeable changes in employment levels and wages, particularly during periods of economic disruption or recovery ? </a:t>
            </a:r>
            <a:endParaRPr lang="en-US" sz="1300">
              <a:solidFill>
                <a:srgbClr val="000000"/>
              </a:solidFill>
              <a:latin typeface="Aptos"/>
              <a:cs typeface="Arial"/>
            </a:endParaRPr>
          </a:p>
          <a:p>
            <a:endParaRPr lang="en-US" sz="1300">
              <a:solidFill>
                <a:srgbClr val="1F2937"/>
              </a:solidFill>
              <a:latin typeface="Aptos"/>
              <a:cs typeface="Arial"/>
            </a:endParaRPr>
          </a:p>
        </p:txBody>
      </p:sp>
      <p:sp>
        <p:nvSpPr>
          <p:cNvPr id="14" name="Shape 12"/>
          <p:cNvSpPr/>
          <p:nvPr/>
        </p:nvSpPr>
        <p:spPr>
          <a:xfrm>
            <a:off x="6446520" y="1920240"/>
            <a:ext cx="914400" cy="731520"/>
          </a:xfrm>
          <a:prstGeom prst="chevron">
            <a:avLst/>
          </a:prstGeom>
          <a:solidFill>
            <a:srgbClr val="0B63A3"/>
          </a:solidFill>
          <a:ln w="12700">
            <a:solidFill>
              <a:srgbClr val="0B63A3">
                <a:alpha val="0"/>
              </a:srgbClr>
            </a:solidFill>
            <a:prstDash val="solid"/>
          </a:ln>
        </p:spPr>
        <p:txBody>
          <a:bodyPr/>
          <a:lstStyle/>
          <a:p>
            <a:endParaRPr lang="en-US"/>
          </a:p>
        </p:txBody>
      </p:sp>
      <p:sp>
        <p:nvSpPr>
          <p:cNvPr id="15" name="Shape 13"/>
          <p:cNvSpPr/>
          <p:nvPr/>
        </p:nvSpPr>
        <p:spPr>
          <a:xfrm>
            <a:off x="7635240" y="1920240"/>
            <a:ext cx="914400" cy="731520"/>
          </a:xfrm>
          <a:prstGeom prst="chevron">
            <a:avLst/>
          </a:prstGeom>
          <a:solidFill>
            <a:srgbClr val="2A9D8F"/>
          </a:solidFill>
          <a:ln w="12700">
            <a:solidFill>
              <a:srgbClr val="2A9D8F">
                <a:alpha val="0"/>
              </a:srgbClr>
            </a:solidFill>
            <a:prstDash val="solid"/>
          </a:ln>
        </p:spPr>
        <p:txBody>
          <a:bodyPr/>
          <a:lstStyle/>
          <a:p>
            <a:endParaRPr lang="en-US"/>
          </a:p>
        </p:txBody>
      </p:sp>
      <p:sp>
        <p:nvSpPr>
          <p:cNvPr id="16" name="Shape 14"/>
          <p:cNvSpPr/>
          <p:nvPr/>
        </p:nvSpPr>
        <p:spPr>
          <a:xfrm>
            <a:off x="8823960" y="1920240"/>
            <a:ext cx="914400" cy="731520"/>
          </a:xfrm>
          <a:prstGeom prst="chevron">
            <a:avLst/>
          </a:prstGeom>
          <a:solidFill>
            <a:srgbClr val="F4A261"/>
          </a:solidFill>
          <a:ln w="12700">
            <a:solidFill>
              <a:srgbClr val="F4A261">
                <a:alpha val="0"/>
              </a:srgbClr>
            </a:solidFill>
            <a:prstDash val="solid"/>
          </a:ln>
        </p:spPr>
        <p:txBody>
          <a:bodyPr/>
          <a:lstStyle/>
          <a:p>
            <a:endParaRPr lang="en-US"/>
          </a:p>
        </p:txBody>
      </p:sp>
      <p:sp>
        <p:nvSpPr>
          <p:cNvPr id="17" name="Text 15"/>
          <p:cNvSpPr/>
          <p:nvPr/>
        </p:nvSpPr>
        <p:spPr>
          <a:xfrm>
            <a:off x="6355080" y="2788920"/>
            <a:ext cx="1097280" cy="365760"/>
          </a:xfrm>
          <a:prstGeom prst="rect">
            <a:avLst/>
          </a:prstGeom>
          <a:noFill/>
          <a:ln/>
        </p:spPr>
        <p:txBody>
          <a:bodyPr wrap="square" lIns="0" tIns="0" rIns="0" bIns="0" rtlCol="0" anchor="ctr"/>
          <a:lstStyle/>
          <a:p>
            <a:pPr marL="0" indent="0" algn="ctr">
              <a:buNone/>
            </a:pPr>
            <a:r>
              <a:rPr lang="en-US" sz="1300" b="1">
                <a:solidFill>
                  <a:srgbClr val="173A5E"/>
                </a:solidFill>
              </a:rPr>
              <a:t>Trend</a:t>
            </a:r>
            <a:endParaRPr lang="en-US" sz="1300"/>
          </a:p>
          <a:p>
            <a:pPr marL="0" indent="0" algn="ctr">
              <a:buNone/>
            </a:pPr>
            <a:r>
              <a:rPr lang="en-US" sz="1300" b="1">
                <a:solidFill>
                  <a:srgbClr val="173A5E"/>
                </a:solidFill>
              </a:rPr>
              <a:t>analysis</a:t>
            </a:r>
            <a:endParaRPr lang="en-US" sz="1300"/>
          </a:p>
        </p:txBody>
      </p:sp>
      <p:sp>
        <p:nvSpPr>
          <p:cNvPr id="18" name="Text 16"/>
          <p:cNvSpPr/>
          <p:nvPr/>
        </p:nvSpPr>
        <p:spPr>
          <a:xfrm>
            <a:off x="7543800" y="2788920"/>
            <a:ext cx="1143000" cy="365760"/>
          </a:xfrm>
          <a:prstGeom prst="rect">
            <a:avLst/>
          </a:prstGeom>
          <a:noFill/>
          <a:ln/>
        </p:spPr>
        <p:txBody>
          <a:bodyPr wrap="square" lIns="0" tIns="0" rIns="0" bIns="0" rtlCol="0" anchor="ctr"/>
          <a:lstStyle/>
          <a:p>
            <a:pPr marL="0" indent="0" algn="ctr">
              <a:buNone/>
            </a:pPr>
            <a:r>
              <a:rPr lang="en-US" sz="1300" b="1">
                <a:solidFill>
                  <a:srgbClr val="173A5E"/>
                </a:solidFill>
              </a:rPr>
              <a:t>Relationship</a:t>
            </a:r>
            <a:endParaRPr lang="en-US" sz="1300"/>
          </a:p>
          <a:p>
            <a:pPr marL="0" indent="0" algn="ctr">
              <a:buNone/>
            </a:pPr>
            <a:r>
              <a:rPr lang="en-US" sz="1300" b="1">
                <a:solidFill>
                  <a:srgbClr val="173A5E"/>
                </a:solidFill>
              </a:rPr>
              <a:t>testing</a:t>
            </a:r>
            <a:endParaRPr lang="en-US" sz="1300"/>
          </a:p>
        </p:txBody>
      </p:sp>
      <p:sp>
        <p:nvSpPr>
          <p:cNvPr id="19" name="Text 17"/>
          <p:cNvSpPr/>
          <p:nvPr/>
        </p:nvSpPr>
        <p:spPr>
          <a:xfrm>
            <a:off x="8732520" y="2788920"/>
            <a:ext cx="1097280" cy="365760"/>
          </a:xfrm>
          <a:prstGeom prst="rect">
            <a:avLst/>
          </a:prstGeom>
          <a:noFill/>
          <a:ln/>
        </p:spPr>
        <p:txBody>
          <a:bodyPr wrap="square" lIns="0" tIns="0" rIns="0" bIns="0" rtlCol="0" anchor="ctr"/>
          <a:lstStyle/>
          <a:p>
            <a:pPr marL="0" indent="0" algn="ctr">
              <a:buNone/>
            </a:pPr>
            <a:r>
              <a:rPr lang="en-US" sz="1300" b="1">
                <a:solidFill>
                  <a:srgbClr val="173A5E"/>
                </a:solidFill>
              </a:rPr>
              <a:t>Business</a:t>
            </a:r>
            <a:endParaRPr lang="en-US" sz="1300"/>
          </a:p>
          <a:p>
            <a:pPr marL="0" indent="0" algn="ctr">
              <a:buNone/>
            </a:pPr>
            <a:r>
              <a:rPr lang="en-US" sz="1300" b="1">
                <a:solidFill>
                  <a:srgbClr val="173A5E"/>
                </a:solidFill>
              </a:rPr>
              <a:t>insight</a:t>
            </a:r>
            <a:endParaRPr lang="en-US" sz="1300"/>
          </a:p>
        </p:txBody>
      </p:sp>
      <p:sp>
        <p:nvSpPr>
          <p:cNvPr id="20" name="Text 18"/>
          <p:cNvSpPr/>
          <p:nvPr/>
        </p:nvSpPr>
        <p:spPr>
          <a:xfrm>
            <a:off x="6446520" y="3977640"/>
            <a:ext cx="4297680" cy="1051560"/>
          </a:xfrm>
          <a:prstGeom prst="rect">
            <a:avLst/>
          </a:prstGeom>
          <a:noFill/>
          <a:ln/>
        </p:spPr>
        <p:txBody>
          <a:bodyPr wrap="square" lIns="0" tIns="0" rIns="0" bIns="0" rtlCol="0" anchor="ctr">
            <a:normAutofit/>
          </a:bodyPr>
          <a:lstStyle/>
          <a:p>
            <a:pPr marL="0" indent="0">
              <a:buNone/>
            </a:pPr>
            <a:r>
              <a:rPr lang="en-US" sz="1500">
                <a:solidFill>
                  <a:srgbClr val="1F2937"/>
                </a:solidFill>
              </a:rPr>
              <a:t>The value of the project is not only showing trends, but explaining what those trends imply for workforce planning, wage pressure, and economic resilience.</a:t>
            </a:r>
            <a:endParaRPr lang="en-US" sz="1500"/>
          </a:p>
        </p:txBody>
      </p:sp>
      <p:sp>
        <p:nvSpPr>
          <p:cNvPr id="21" name="Text 19"/>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22" name="Text 20"/>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02</a:t>
            </a:r>
            <a:endParaRPr lang="en-US"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Dataset Introduction</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1200">
                <a:solidFill>
                  <a:srgbClr val="5B6770"/>
                </a:solidFill>
              </a:rPr>
              <a:t>Sources, variables, and limitations</a:t>
            </a:r>
            <a:endParaRPr lang="en-US" sz="1200"/>
          </a:p>
        </p:txBody>
      </p:sp>
      <p:pic>
        <p:nvPicPr>
          <p:cNvPr id="6" name="Image 0" descr="/mnt/data/image(57).png"/>
          <p:cNvPicPr>
            <a:picLocks noChangeAspect="1"/>
          </p:cNvPicPr>
          <p:nvPr/>
        </p:nvPicPr>
        <p:blipFill>
          <a:blip r:embed="rId3"/>
          <a:srcRect t="613" b="613"/>
          <a:stretch/>
        </p:blipFill>
        <p:spPr>
          <a:xfrm>
            <a:off x="647079" y="1277902"/>
            <a:ext cx="4206240" cy="2468880"/>
          </a:xfrm>
          <a:prstGeom prst="rect">
            <a:avLst/>
          </a:prstGeom>
        </p:spPr>
      </p:pic>
      <p:sp>
        <p:nvSpPr>
          <p:cNvPr id="7" name="Shape 4"/>
          <p:cNvSpPr/>
          <p:nvPr/>
        </p:nvSpPr>
        <p:spPr>
          <a:xfrm>
            <a:off x="5212080" y="1143000"/>
            <a:ext cx="2743200" cy="1005840"/>
          </a:xfrm>
          <a:prstGeom prst="roundRect">
            <a:avLst>
              <a:gd name="adj" fmla="val 7273"/>
            </a:avLst>
          </a:prstGeom>
          <a:solidFill>
            <a:srgbClr val="EEF6FB"/>
          </a:solidFill>
          <a:ln w="12700">
            <a:solidFill>
              <a:srgbClr val="D7DEE8">
                <a:alpha val="70000"/>
              </a:srgbClr>
            </a:solidFill>
            <a:prstDash val="solid"/>
          </a:ln>
        </p:spPr>
        <p:txBody>
          <a:bodyPr/>
          <a:lstStyle/>
          <a:p>
            <a:endParaRPr lang="en-US"/>
          </a:p>
        </p:txBody>
      </p:sp>
      <p:sp>
        <p:nvSpPr>
          <p:cNvPr id="8" name="Text 5"/>
          <p:cNvSpPr/>
          <p:nvPr/>
        </p:nvSpPr>
        <p:spPr>
          <a:xfrm>
            <a:off x="5376672" y="1280160"/>
            <a:ext cx="2414016" cy="777240"/>
          </a:xfrm>
          <a:prstGeom prst="rect">
            <a:avLst/>
          </a:prstGeom>
          <a:noFill/>
          <a:ln/>
        </p:spPr>
        <p:txBody>
          <a:bodyPr wrap="square" lIns="0" tIns="0" rIns="0" bIns="0" rtlCol="0" anchor="ctr">
            <a:normAutofit fontScale="92500" lnSpcReduction="10000"/>
          </a:bodyPr>
          <a:lstStyle/>
          <a:p>
            <a:pPr>
              <a:buNone/>
            </a:pPr>
            <a:r>
              <a:rPr lang="en-US" b="1"/>
              <a:t>Primary dataset</a:t>
            </a:r>
          </a:p>
          <a:p>
            <a:r>
              <a:rPr lang="en-US" sz="1300">
                <a:solidFill>
                  <a:srgbClr val="1F2937"/>
                </a:solidFill>
                <a:ea typeface="+mn-lt"/>
                <a:cs typeface="+mn-lt"/>
              </a:rPr>
              <a:t>U.S. Bureau of Labor Statistics (BLS) data on North Carolina labor market trends.</a:t>
            </a:r>
            <a:endParaRPr lang="en-US">
              <a:ea typeface="+mn-lt"/>
              <a:cs typeface="+mn-lt"/>
            </a:endParaRPr>
          </a:p>
          <a:p>
            <a:pPr marL="0" indent="0">
              <a:buNone/>
            </a:pPr>
            <a:endParaRPr lang="en-US" sz="1300">
              <a:solidFill>
                <a:srgbClr val="1F2937"/>
              </a:solidFill>
            </a:endParaRPr>
          </a:p>
        </p:txBody>
      </p:sp>
      <p:sp>
        <p:nvSpPr>
          <p:cNvPr id="9" name="Shape 6"/>
          <p:cNvSpPr/>
          <p:nvPr/>
        </p:nvSpPr>
        <p:spPr>
          <a:xfrm>
            <a:off x="8229600" y="1143000"/>
            <a:ext cx="2880360" cy="1005840"/>
          </a:xfrm>
          <a:prstGeom prst="roundRect">
            <a:avLst>
              <a:gd name="adj" fmla="val 7273"/>
            </a:avLst>
          </a:prstGeom>
          <a:solidFill>
            <a:srgbClr val="F0FAF8"/>
          </a:solidFill>
          <a:ln w="12700">
            <a:solidFill>
              <a:srgbClr val="D7DEE8">
                <a:alpha val="70000"/>
              </a:srgbClr>
            </a:solidFill>
            <a:prstDash val="solid"/>
          </a:ln>
        </p:spPr>
        <p:txBody>
          <a:bodyPr/>
          <a:lstStyle/>
          <a:p>
            <a:endParaRPr lang="en-US"/>
          </a:p>
        </p:txBody>
      </p:sp>
      <p:sp>
        <p:nvSpPr>
          <p:cNvPr id="10" name="Text 7"/>
          <p:cNvSpPr/>
          <p:nvPr/>
        </p:nvSpPr>
        <p:spPr>
          <a:xfrm>
            <a:off x="8394192" y="1280160"/>
            <a:ext cx="2551176" cy="777240"/>
          </a:xfrm>
          <a:prstGeom prst="rect">
            <a:avLst/>
          </a:prstGeom>
          <a:noFill/>
          <a:ln/>
        </p:spPr>
        <p:txBody>
          <a:bodyPr wrap="square" lIns="0" tIns="0" rIns="0" bIns="0" rtlCol="0" anchor="ctr">
            <a:normAutofit fontScale="92500" lnSpcReduction="10000"/>
          </a:bodyPr>
          <a:lstStyle/>
          <a:p>
            <a:pPr>
              <a:buNone/>
            </a:pPr>
            <a:r>
              <a:rPr lang="en-US" b="1"/>
              <a:t>Main variables</a:t>
            </a:r>
          </a:p>
          <a:p>
            <a:r>
              <a:rPr lang="en-US" sz="1300">
                <a:solidFill>
                  <a:srgbClr val="1F2937"/>
                </a:solidFill>
                <a:ea typeface="+mn-lt"/>
                <a:cs typeface="+mn-lt"/>
              </a:rPr>
              <a:t>Year/month, unemployment rate, employment level, and average hourly wages.</a:t>
            </a:r>
            <a:endParaRPr lang="en-US">
              <a:ea typeface="+mn-lt"/>
              <a:cs typeface="+mn-lt"/>
            </a:endParaRPr>
          </a:p>
          <a:p>
            <a:pPr marL="0" indent="0">
              <a:buNone/>
            </a:pPr>
            <a:endParaRPr lang="en-US" sz="1300">
              <a:solidFill>
                <a:srgbClr val="1F2937"/>
              </a:solidFill>
            </a:endParaRPr>
          </a:p>
        </p:txBody>
      </p:sp>
      <p:sp>
        <p:nvSpPr>
          <p:cNvPr id="11" name="Shape 8"/>
          <p:cNvSpPr/>
          <p:nvPr/>
        </p:nvSpPr>
        <p:spPr>
          <a:xfrm>
            <a:off x="5212080" y="2606040"/>
            <a:ext cx="2743200" cy="1005840"/>
          </a:xfrm>
          <a:prstGeom prst="roundRect">
            <a:avLst>
              <a:gd name="adj" fmla="val 7273"/>
            </a:avLst>
          </a:prstGeom>
          <a:solidFill>
            <a:srgbClr val="FFF7EC"/>
          </a:solidFill>
          <a:ln w="12700">
            <a:solidFill>
              <a:srgbClr val="D7DEE8">
                <a:alpha val="70000"/>
              </a:srgbClr>
            </a:solidFill>
            <a:prstDash val="solid"/>
          </a:ln>
        </p:spPr>
        <p:txBody>
          <a:bodyPr/>
          <a:lstStyle/>
          <a:p>
            <a:endParaRPr lang="en-US"/>
          </a:p>
        </p:txBody>
      </p:sp>
      <p:sp>
        <p:nvSpPr>
          <p:cNvPr id="12" name="Text 9"/>
          <p:cNvSpPr/>
          <p:nvPr/>
        </p:nvSpPr>
        <p:spPr>
          <a:xfrm>
            <a:off x="5376672" y="2743200"/>
            <a:ext cx="2414016" cy="777240"/>
          </a:xfrm>
          <a:prstGeom prst="rect">
            <a:avLst/>
          </a:prstGeom>
          <a:noFill/>
          <a:ln/>
        </p:spPr>
        <p:txBody>
          <a:bodyPr wrap="square" lIns="0" tIns="0" rIns="0" bIns="0" rtlCol="0" anchor="ctr">
            <a:normAutofit fontScale="92500" lnSpcReduction="10000"/>
          </a:bodyPr>
          <a:lstStyle/>
          <a:p>
            <a:pPr>
              <a:buNone/>
            </a:pPr>
            <a:r>
              <a:rPr lang="en-US" b="1"/>
              <a:t>Supporting data</a:t>
            </a:r>
          </a:p>
          <a:p>
            <a:r>
              <a:rPr lang="en-US" sz="1300">
                <a:solidFill>
                  <a:srgbClr val="1F2937"/>
                </a:solidFill>
                <a:ea typeface="+mn-lt"/>
                <a:cs typeface="+mn-lt"/>
              </a:rPr>
              <a:t>Data.gov and cost-of-living context used to support and validate insights.</a:t>
            </a:r>
            <a:endParaRPr lang="en-US">
              <a:ea typeface="+mn-lt"/>
              <a:cs typeface="+mn-lt"/>
            </a:endParaRPr>
          </a:p>
          <a:p>
            <a:pPr marL="0" indent="0">
              <a:buNone/>
            </a:pPr>
            <a:endParaRPr lang="en-US" sz="1300">
              <a:solidFill>
                <a:srgbClr val="1F2937"/>
              </a:solidFill>
            </a:endParaRPr>
          </a:p>
        </p:txBody>
      </p:sp>
      <p:sp>
        <p:nvSpPr>
          <p:cNvPr id="13" name="Shape 10"/>
          <p:cNvSpPr/>
          <p:nvPr/>
        </p:nvSpPr>
        <p:spPr>
          <a:xfrm>
            <a:off x="8229600" y="2606040"/>
            <a:ext cx="2880360" cy="1005840"/>
          </a:xfrm>
          <a:prstGeom prst="roundRect">
            <a:avLst>
              <a:gd name="adj" fmla="val 7273"/>
            </a:avLst>
          </a:prstGeom>
          <a:solidFill>
            <a:srgbClr val="FDF2F0"/>
          </a:solidFill>
          <a:ln w="12700">
            <a:solidFill>
              <a:srgbClr val="D7DEE8">
                <a:alpha val="70000"/>
              </a:srgbClr>
            </a:solidFill>
            <a:prstDash val="solid"/>
          </a:ln>
        </p:spPr>
        <p:txBody>
          <a:bodyPr/>
          <a:lstStyle/>
          <a:p>
            <a:endParaRPr lang="en-US"/>
          </a:p>
        </p:txBody>
      </p:sp>
      <p:sp>
        <p:nvSpPr>
          <p:cNvPr id="14" name="Text 11"/>
          <p:cNvSpPr/>
          <p:nvPr/>
        </p:nvSpPr>
        <p:spPr>
          <a:xfrm>
            <a:off x="8394192" y="2743200"/>
            <a:ext cx="2551176" cy="777240"/>
          </a:xfrm>
          <a:prstGeom prst="rect">
            <a:avLst/>
          </a:prstGeom>
          <a:noFill/>
          <a:ln/>
        </p:spPr>
        <p:txBody>
          <a:bodyPr wrap="square" lIns="0" tIns="0" rIns="0" bIns="0" rtlCol="0" anchor="ctr">
            <a:normAutofit fontScale="92500" lnSpcReduction="10000"/>
          </a:bodyPr>
          <a:lstStyle/>
          <a:p>
            <a:pPr>
              <a:buNone/>
            </a:pPr>
            <a:r>
              <a:rPr lang="en-US" b="1"/>
              <a:t>Limitations</a:t>
            </a:r>
          </a:p>
          <a:p>
            <a:r>
              <a:rPr lang="en-US" sz="1300">
                <a:solidFill>
                  <a:srgbClr val="1F2937"/>
                </a:solidFill>
                <a:ea typeface="+mn-lt"/>
                <a:cs typeface="+mn-lt"/>
              </a:rPr>
              <a:t>Data is aggregated, may require cleaning, and may not reflect local-level differences.</a:t>
            </a:r>
            <a:endParaRPr lang="en-US">
              <a:ea typeface="+mn-lt"/>
              <a:cs typeface="+mn-lt"/>
            </a:endParaRPr>
          </a:p>
          <a:p>
            <a:pPr marL="0" indent="0">
              <a:buNone/>
            </a:pPr>
            <a:endParaRPr lang="en-US" sz="1300">
              <a:solidFill>
                <a:srgbClr val="1F2937"/>
              </a:solidFill>
            </a:endParaRPr>
          </a:p>
        </p:txBody>
      </p:sp>
      <p:sp>
        <p:nvSpPr>
          <p:cNvPr id="15" name="Text 12"/>
          <p:cNvSpPr/>
          <p:nvPr/>
        </p:nvSpPr>
        <p:spPr>
          <a:xfrm>
            <a:off x="1458299" y="4300502"/>
            <a:ext cx="10241280" cy="640080"/>
          </a:xfrm>
          <a:prstGeom prst="rect">
            <a:avLst/>
          </a:prstGeom>
          <a:noFill/>
          <a:ln/>
        </p:spPr>
        <p:txBody>
          <a:bodyPr wrap="square" lIns="0" tIns="0" rIns="0" bIns="0" rtlCol="0" anchor="ctr"/>
          <a:lstStyle/>
          <a:p>
            <a:r>
              <a:rPr lang="en-US" sz="1500">
                <a:solidFill>
                  <a:srgbClr val="1F2937"/>
                </a:solidFill>
                <a:ea typeface="+mn-lt"/>
                <a:cs typeface="+mn-lt"/>
              </a:rPr>
              <a:t>Data sources and methods are documented in the GitHub README to ensure transparency and reproducibility.</a:t>
            </a:r>
            <a:endParaRPr lang="en-US">
              <a:ea typeface="+mn-lt"/>
              <a:cs typeface="+mn-lt"/>
            </a:endParaRPr>
          </a:p>
          <a:p>
            <a:pPr marL="0" indent="0">
              <a:buNone/>
            </a:pPr>
            <a:endParaRPr lang="en-US" sz="1500">
              <a:solidFill>
                <a:srgbClr val="1F2937"/>
              </a:solidFill>
            </a:endParaRPr>
          </a:p>
        </p:txBody>
      </p:sp>
      <p:sp>
        <p:nvSpPr>
          <p:cNvPr id="16" name="Text 13"/>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7" name="Text 14"/>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03</a:t>
            </a:r>
            <a:endParaRPr lang="en-US"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Analytical Approach</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From raw data to business conclusions</a:t>
            </a:r>
            <a:endParaRPr lang="en-US" sz="950"/>
          </a:p>
        </p:txBody>
      </p:sp>
      <p:sp>
        <p:nvSpPr>
          <p:cNvPr id="6" name="Shape 4"/>
          <p:cNvSpPr/>
          <p:nvPr/>
        </p:nvSpPr>
        <p:spPr>
          <a:xfrm>
            <a:off x="822960" y="1920240"/>
            <a:ext cx="1143000" cy="1143000"/>
          </a:xfrm>
          <a:prstGeom prst="ellipse">
            <a:avLst/>
          </a:prstGeom>
          <a:solidFill>
            <a:srgbClr val="0B63A3"/>
          </a:solidFill>
          <a:ln w="12700">
            <a:solidFill>
              <a:srgbClr val="FFFFFF">
                <a:alpha val="0"/>
              </a:srgbClr>
            </a:solidFill>
            <a:prstDash val="solid"/>
          </a:ln>
        </p:spPr>
        <p:txBody>
          <a:bodyPr/>
          <a:lstStyle/>
          <a:p>
            <a:endParaRPr lang="en-US"/>
          </a:p>
        </p:txBody>
      </p:sp>
      <p:sp>
        <p:nvSpPr>
          <p:cNvPr id="7" name="Text 5"/>
          <p:cNvSpPr/>
          <p:nvPr/>
        </p:nvSpPr>
        <p:spPr>
          <a:xfrm>
            <a:off x="120700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1</a:t>
            </a:r>
            <a:endParaRPr lang="en-US" sz="2100"/>
          </a:p>
        </p:txBody>
      </p:sp>
      <p:sp>
        <p:nvSpPr>
          <p:cNvPr id="8" name="Shape 6"/>
          <p:cNvSpPr/>
          <p:nvPr/>
        </p:nvSpPr>
        <p:spPr>
          <a:xfrm>
            <a:off x="1965960" y="2487168"/>
            <a:ext cx="1143000" cy="0"/>
          </a:xfrm>
          <a:prstGeom prst="line">
            <a:avLst/>
          </a:prstGeom>
          <a:noFill/>
          <a:ln w="25400">
            <a:solidFill>
              <a:srgbClr val="AAB4C0"/>
            </a:solidFill>
            <a:prstDash val="solid"/>
            <a:headEnd type="none"/>
            <a:tailEnd type="triangle"/>
          </a:ln>
        </p:spPr>
        <p:txBody>
          <a:bodyPr/>
          <a:lstStyle/>
          <a:p>
            <a:endParaRPr lang="en-US"/>
          </a:p>
        </p:txBody>
      </p:sp>
      <p:sp>
        <p:nvSpPr>
          <p:cNvPr id="9" name="Text 7"/>
          <p:cNvSpPr/>
          <p:nvPr/>
        </p:nvSpPr>
        <p:spPr>
          <a:xfrm>
            <a:off x="59436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Collect data</a:t>
            </a:r>
            <a:endParaRPr lang="en-US" sz="1300"/>
          </a:p>
        </p:txBody>
      </p:sp>
      <p:sp>
        <p:nvSpPr>
          <p:cNvPr id="10" name="Text 8"/>
          <p:cNvSpPr/>
          <p:nvPr/>
        </p:nvSpPr>
        <p:spPr>
          <a:xfrm>
            <a:off x="50292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BLS public datasets focused on North Carolina labor market</a:t>
            </a:r>
            <a:endParaRPr lang="en-US"/>
          </a:p>
          <a:p>
            <a:pPr marL="0" indent="0" algn="ctr">
              <a:buNone/>
            </a:pPr>
            <a:endParaRPr lang="en-US" sz="1050">
              <a:solidFill>
                <a:srgbClr val="5B6770"/>
              </a:solidFill>
            </a:endParaRPr>
          </a:p>
        </p:txBody>
      </p:sp>
      <p:sp>
        <p:nvSpPr>
          <p:cNvPr id="11" name="Shape 9"/>
          <p:cNvSpPr/>
          <p:nvPr/>
        </p:nvSpPr>
        <p:spPr>
          <a:xfrm>
            <a:off x="3063240" y="1920240"/>
            <a:ext cx="1143000" cy="1143000"/>
          </a:xfrm>
          <a:prstGeom prst="ellipse">
            <a:avLst/>
          </a:prstGeom>
          <a:solidFill>
            <a:srgbClr val="2A9D8F"/>
          </a:solidFill>
          <a:ln w="12700">
            <a:solidFill>
              <a:srgbClr val="FFFFFF">
                <a:alpha val="0"/>
              </a:srgbClr>
            </a:solidFill>
            <a:prstDash val="solid"/>
          </a:ln>
        </p:spPr>
        <p:txBody>
          <a:bodyPr/>
          <a:lstStyle/>
          <a:p>
            <a:endParaRPr lang="en-US"/>
          </a:p>
        </p:txBody>
      </p:sp>
      <p:sp>
        <p:nvSpPr>
          <p:cNvPr id="12" name="Text 10"/>
          <p:cNvSpPr/>
          <p:nvPr/>
        </p:nvSpPr>
        <p:spPr>
          <a:xfrm>
            <a:off x="344728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2</a:t>
            </a:r>
            <a:endParaRPr lang="en-US" sz="2100"/>
          </a:p>
        </p:txBody>
      </p:sp>
      <p:sp>
        <p:nvSpPr>
          <p:cNvPr id="13" name="Shape 11"/>
          <p:cNvSpPr/>
          <p:nvPr/>
        </p:nvSpPr>
        <p:spPr>
          <a:xfrm>
            <a:off x="4206240" y="2487168"/>
            <a:ext cx="1143000" cy="0"/>
          </a:xfrm>
          <a:prstGeom prst="line">
            <a:avLst/>
          </a:prstGeom>
          <a:noFill/>
          <a:ln w="25400">
            <a:solidFill>
              <a:srgbClr val="AAB4C0"/>
            </a:solidFill>
            <a:prstDash val="solid"/>
            <a:headEnd type="none"/>
            <a:tailEnd type="triangle"/>
          </a:ln>
        </p:spPr>
        <p:txBody>
          <a:bodyPr/>
          <a:lstStyle/>
          <a:p>
            <a:endParaRPr lang="en-US"/>
          </a:p>
        </p:txBody>
      </p:sp>
      <p:sp>
        <p:nvSpPr>
          <p:cNvPr id="14" name="Text 12"/>
          <p:cNvSpPr/>
          <p:nvPr/>
        </p:nvSpPr>
        <p:spPr>
          <a:xfrm>
            <a:off x="283464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Clean &amp; join</a:t>
            </a:r>
            <a:endParaRPr lang="en-US" sz="1300"/>
          </a:p>
        </p:txBody>
      </p:sp>
      <p:sp>
        <p:nvSpPr>
          <p:cNvPr id="15" name="Text 13"/>
          <p:cNvSpPr/>
          <p:nvPr/>
        </p:nvSpPr>
        <p:spPr>
          <a:xfrm>
            <a:off x="274320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Standardized dates, units, and variables across datasets</a:t>
            </a:r>
            <a:endParaRPr lang="en-US"/>
          </a:p>
          <a:p>
            <a:pPr marL="0" indent="0" algn="ctr">
              <a:buNone/>
            </a:pPr>
            <a:endParaRPr lang="en-US" sz="1050">
              <a:solidFill>
                <a:srgbClr val="5B6770"/>
              </a:solidFill>
            </a:endParaRPr>
          </a:p>
        </p:txBody>
      </p:sp>
      <p:sp>
        <p:nvSpPr>
          <p:cNvPr id="16" name="Shape 14"/>
          <p:cNvSpPr/>
          <p:nvPr/>
        </p:nvSpPr>
        <p:spPr>
          <a:xfrm>
            <a:off x="5303520" y="1920240"/>
            <a:ext cx="1143000" cy="1143000"/>
          </a:xfrm>
          <a:prstGeom prst="ellipse">
            <a:avLst/>
          </a:prstGeom>
          <a:solidFill>
            <a:srgbClr val="F4A261"/>
          </a:solidFill>
          <a:ln w="12700">
            <a:solidFill>
              <a:srgbClr val="FFFFFF">
                <a:alpha val="0"/>
              </a:srgbClr>
            </a:solidFill>
            <a:prstDash val="solid"/>
          </a:ln>
        </p:spPr>
        <p:txBody>
          <a:bodyPr/>
          <a:lstStyle/>
          <a:p>
            <a:endParaRPr lang="en-US"/>
          </a:p>
        </p:txBody>
      </p:sp>
      <p:sp>
        <p:nvSpPr>
          <p:cNvPr id="17" name="Text 15"/>
          <p:cNvSpPr/>
          <p:nvPr/>
        </p:nvSpPr>
        <p:spPr>
          <a:xfrm>
            <a:off x="568756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3</a:t>
            </a:r>
            <a:endParaRPr lang="en-US" sz="2100"/>
          </a:p>
        </p:txBody>
      </p:sp>
      <p:sp>
        <p:nvSpPr>
          <p:cNvPr id="18" name="Shape 16"/>
          <p:cNvSpPr/>
          <p:nvPr/>
        </p:nvSpPr>
        <p:spPr>
          <a:xfrm>
            <a:off x="6446520" y="2487168"/>
            <a:ext cx="1143000" cy="0"/>
          </a:xfrm>
          <a:prstGeom prst="line">
            <a:avLst/>
          </a:prstGeom>
          <a:noFill/>
          <a:ln w="25400">
            <a:solidFill>
              <a:srgbClr val="AAB4C0"/>
            </a:solidFill>
            <a:prstDash val="solid"/>
            <a:headEnd type="none"/>
            <a:tailEnd type="triangle"/>
          </a:ln>
        </p:spPr>
        <p:txBody>
          <a:bodyPr/>
          <a:lstStyle/>
          <a:p>
            <a:endParaRPr lang="en-US"/>
          </a:p>
        </p:txBody>
      </p:sp>
      <p:sp>
        <p:nvSpPr>
          <p:cNvPr id="19" name="Text 17"/>
          <p:cNvSpPr/>
          <p:nvPr/>
        </p:nvSpPr>
        <p:spPr>
          <a:xfrm>
            <a:off x="507492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Build Tableau views</a:t>
            </a:r>
            <a:endParaRPr lang="en-US" sz="1300"/>
          </a:p>
        </p:txBody>
      </p:sp>
      <p:sp>
        <p:nvSpPr>
          <p:cNvPr id="20" name="Text 18"/>
          <p:cNvSpPr/>
          <p:nvPr/>
        </p:nvSpPr>
        <p:spPr>
          <a:xfrm>
            <a:off x="498348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Created trend lines and visuals for employment and wages</a:t>
            </a:r>
            <a:endParaRPr lang="en-US"/>
          </a:p>
          <a:p>
            <a:pPr marL="0" indent="0" algn="ctr">
              <a:buNone/>
            </a:pPr>
            <a:endParaRPr lang="en-US" sz="1050">
              <a:solidFill>
                <a:srgbClr val="5B6770"/>
              </a:solidFill>
            </a:endParaRPr>
          </a:p>
        </p:txBody>
      </p:sp>
      <p:sp>
        <p:nvSpPr>
          <p:cNvPr id="21" name="Shape 19"/>
          <p:cNvSpPr/>
          <p:nvPr/>
        </p:nvSpPr>
        <p:spPr>
          <a:xfrm>
            <a:off x="7543800" y="1920240"/>
            <a:ext cx="1143000" cy="1143000"/>
          </a:xfrm>
          <a:prstGeom prst="ellipse">
            <a:avLst/>
          </a:prstGeom>
          <a:solidFill>
            <a:srgbClr val="D94F3D"/>
          </a:solidFill>
          <a:ln w="12700">
            <a:solidFill>
              <a:srgbClr val="FFFFFF">
                <a:alpha val="0"/>
              </a:srgbClr>
            </a:solidFill>
            <a:prstDash val="solid"/>
          </a:ln>
        </p:spPr>
        <p:txBody>
          <a:bodyPr/>
          <a:lstStyle/>
          <a:p>
            <a:endParaRPr lang="en-US"/>
          </a:p>
        </p:txBody>
      </p:sp>
      <p:sp>
        <p:nvSpPr>
          <p:cNvPr id="22" name="Text 20"/>
          <p:cNvSpPr/>
          <p:nvPr/>
        </p:nvSpPr>
        <p:spPr>
          <a:xfrm>
            <a:off x="792784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4</a:t>
            </a:r>
            <a:endParaRPr lang="en-US" sz="2100"/>
          </a:p>
        </p:txBody>
      </p:sp>
      <p:sp>
        <p:nvSpPr>
          <p:cNvPr id="23" name="Shape 21"/>
          <p:cNvSpPr/>
          <p:nvPr/>
        </p:nvSpPr>
        <p:spPr>
          <a:xfrm>
            <a:off x="8686800" y="2487168"/>
            <a:ext cx="1143000" cy="0"/>
          </a:xfrm>
          <a:prstGeom prst="line">
            <a:avLst/>
          </a:prstGeom>
          <a:noFill/>
          <a:ln w="25400">
            <a:solidFill>
              <a:srgbClr val="AAB4C0"/>
            </a:solidFill>
            <a:prstDash val="solid"/>
            <a:headEnd type="none"/>
            <a:tailEnd type="triangle"/>
          </a:ln>
        </p:spPr>
        <p:txBody>
          <a:bodyPr/>
          <a:lstStyle/>
          <a:p>
            <a:endParaRPr lang="en-US"/>
          </a:p>
        </p:txBody>
      </p:sp>
      <p:sp>
        <p:nvSpPr>
          <p:cNvPr id="24" name="Text 22"/>
          <p:cNvSpPr/>
          <p:nvPr/>
        </p:nvSpPr>
        <p:spPr>
          <a:xfrm>
            <a:off x="731520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Regression test</a:t>
            </a:r>
            <a:endParaRPr lang="en-US" sz="1300"/>
          </a:p>
        </p:txBody>
      </p:sp>
      <p:sp>
        <p:nvSpPr>
          <p:cNvPr id="25" name="Text 23"/>
          <p:cNvSpPr/>
          <p:nvPr/>
        </p:nvSpPr>
        <p:spPr>
          <a:xfrm>
            <a:off x="722376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Measured how employment levels impact wage growth</a:t>
            </a:r>
            <a:endParaRPr lang="en-US"/>
          </a:p>
          <a:p>
            <a:pPr marL="0" indent="0" algn="ctr">
              <a:buNone/>
            </a:pPr>
            <a:endParaRPr lang="en-US" sz="1050">
              <a:solidFill>
                <a:srgbClr val="5B6770"/>
              </a:solidFill>
            </a:endParaRPr>
          </a:p>
        </p:txBody>
      </p:sp>
      <p:sp>
        <p:nvSpPr>
          <p:cNvPr id="26" name="Shape 24"/>
          <p:cNvSpPr/>
          <p:nvPr/>
        </p:nvSpPr>
        <p:spPr>
          <a:xfrm>
            <a:off x="9784080" y="1920240"/>
            <a:ext cx="1143000" cy="1143000"/>
          </a:xfrm>
          <a:prstGeom prst="ellipse">
            <a:avLst/>
          </a:prstGeom>
          <a:solidFill>
            <a:srgbClr val="173A5E"/>
          </a:solidFill>
          <a:ln w="12700">
            <a:solidFill>
              <a:srgbClr val="FFFFFF">
                <a:alpha val="0"/>
              </a:srgbClr>
            </a:solidFill>
            <a:prstDash val="solid"/>
          </a:ln>
        </p:spPr>
        <p:txBody>
          <a:bodyPr/>
          <a:lstStyle/>
          <a:p>
            <a:endParaRPr lang="en-US"/>
          </a:p>
        </p:txBody>
      </p:sp>
      <p:sp>
        <p:nvSpPr>
          <p:cNvPr id="27" name="Text 25"/>
          <p:cNvSpPr/>
          <p:nvPr/>
        </p:nvSpPr>
        <p:spPr>
          <a:xfrm>
            <a:off x="1016812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5</a:t>
            </a:r>
            <a:endParaRPr lang="en-US" sz="2100"/>
          </a:p>
        </p:txBody>
      </p:sp>
      <p:sp>
        <p:nvSpPr>
          <p:cNvPr id="28" name="Text 26"/>
          <p:cNvSpPr/>
          <p:nvPr/>
        </p:nvSpPr>
        <p:spPr>
          <a:xfrm>
            <a:off x="955548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Interpret insights</a:t>
            </a:r>
            <a:endParaRPr lang="en-US" sz="1300"/>
          </a:p>
        </p:txBody>
      </p:sp>
      <p:sp>
        <p:nvSpPr>
          <p:cNvPr id="29" name="Text 27"/>
          <p:cNvSpPr/>
          <p:nvPr/>
        </p:nvSpPr>
        <p:spPr>
          <a:xfrm>
            <a:off x="946404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Connected results to real business implications</a:t>
            </a:r>
            <a:endParaRPr lang="en-US"/>
          </a:p>
          <a:p>
            <a:pPr marL="0" indent="0" algn="ctr">
              <a:buNone/>
            </a:pPr>
            <a:endParaRPr lang="en-US" sz="1050">
              <a:solidFill>
                <a:srgbClr val="5B6770"/>
              </a:solidFill>
            </a:endParaRPr>
          </a:p>
        </p:txBody>
      </p:sp>
      <p:sp>
        <p:nvSpPr>
          <p:cNvPr id="30" name="Shape 28"/>
          <p:cNvSpPr/>
          <p:nvPr/>
        </p:nvSpPr>
        <p:spPr>
          <a:xfrm>
            <a:off x="1188720" y="4892040"/>
            <a:ext cx="9784080" cy="685800"/>
          </a:xfrm>
          <a:prstGeom prst="roundRect">
            <a:avLst>
              <a:gd name="adj" fmla="val 10667"/>
            </a:avLst>
          </a:prstGeom>
          <a:solidFill>
            <a:srgbClr val="F5F7FA"/>
          </a:solidFill>
          <a:ln w="12700">
            <a:solidFill>
              <a:srgbClr val="D7DEE8">
                <a:alpha val="70000"/>
              </a:srgbClr>
            </a:solidFill>
            <a:prstDash val="solid"/>
          </a:ln>
        </p:spPr>
        <p:txBody>
          <a:bodyPr/>
          <a:lstStyle/>
          <a:p>
            <a:endParaRPr lang="en-US"/>
          </a:p>
        </p:txBody>
      </p:sp>
      <p:sp>
        <p:nvSpPr>
          <p:cNvPr id="31" name="Text 29"/>
          <p:cNvSpPr/>
          <p:nvPr/>
        </p:nvSpPr>
        <p:spPr>
          <a:xfrm>
            <a:off x="1353312" y="5119511"/>
            <a:ext cx="9454896" cy="457200"/>
          </a:xfrm>
          <a:prstGeom prst="rect">
            <a:avLst/>
          </a:prstGeom>
          <a:noFill/>
          <a:ln/>
        </p:spPr>
        <p:txBody>
          <a:bodyPr wrap="square" lIns="0" tIns="0" rIns="0" bIns="0" rtlCol="0" anchor="ctr">
            <a:normAutofit/>
          </a:bodyPr>
          <a:lstStyle/>
          <a:p>
            <a:r>
              <a:rPr lang="en-US" sz="1300">
                <a:solidFill>
                  <a:srgbClr val="1F2937"/>
                </a:solidFill>
                <a:ea typeface="+mn-lt"/>
                <a:cs typeface="+mn-lt"/>
              </a:rPr>
              <a:t>The analysis combines visualization and regression to explain how employment levels influence wage growth over time.</a:t>
            </a:r>
            <a:endParaRPr lang="en-US">
              <a:ea typeface="+mn-lt"/>
              <a:cs typeface="+mn-lt"/>
            </a:endParaRPr>
          </a:p>
          <a:p>
            <a:pPr marL="0" indent="0">
              <a:buNone/>
            </a:pPr>
            <a:endParaRPr lang="en-US" sz="1300">
              <a:solidFill>
                <a:srgbClr val="1F2937"/>
              </a:solidFill>
            </a:endParaRPr>
          </a:p>
        </p:txBody>
      </p:sp>
      <p:sp>
        <p:nvSpPr>
          <p:cNvPr id="32" name="Text 30"/>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33" name="Text 31"/>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04</a:t>
            </a:r>
            <a:endParaRPr lang="en-US" sz="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Tableau Dashboard 1: Labor Market Trends</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endParaRPr lang="en-US" sz="950"/>
          </a:p>
        </p:txBody>
      </p:sp>
      <p:sp>
        <p:nvSpPr>
          <p:cNvPr id="7" name="Text 5"/>
          <p:cNvSpPr/>
          <p:nvPr/>
        </p:nvSpPr>
        <p:spPr>
          <a:xfrm>
            <a:off x="1828800" y="2971800"/>
            <a:ext cx="5120640" cy="640080"/>
          </a:xfrm>
          <a:prstGeom prst="rect">
            <a:avLst/>
          </a:prstGeom>
          <a:noFill/>
          <a:ln/>
        </p:spPr>
        <p:txBody>
          <a:bodyPr wrap="square" lIns="0" tIns="0" rIns="0" bIns="0" rtlCol="0" anchor="ctr">
            <a:normAutofit fontScale="85000" lnSpcReduction="10000"/>
          </a:bodyPr>
          <a:lstStyle/>
          <a:p>
            <a:pPr marL="0" indent="0" algn="ctr">
              <a:buNone/>
            </a:pPr>
            <a:r>
              <a:rPr lang="en-US" sz="1800" b="1">
                <a:solidFill>
                  <a:srgbClr val="7B8794"/>
                </a:solidFill>
              </a:rPr>
              <a:t>PLACEHOLDER</a:t>
            </a:r>
            <a:endParaRPr lang="en-US" sz="1800"/>
          </a:p>
          <a:p>
            <a:pPr marL="0" indent="0" algn="ctr">
              <a:buNone/>
            </a:pPr>
            <a:r>
              <a:rPr lang="en-US" sz="1800" b="1">
                <a:solidFill>
                  <a:srgbClr val="7B8794"/>
                </a:solidFill>
              </a:rPr>
              <a:t>Tableau: line chart showing unemployment rate, employment level, and average hourly wage over 2015–2024</a:t>
            </a:r>
            <a:endParaRPr lang="en-US" sz="1800"/>
          </a:p>
        </p:txBody>
      </p:sp>
      <p:sp>
        <p:nvSpPr>
          <p:cNvPr id="8" name="Shape 6"/>
          <p:cNvSpPr/>
          <p:nvPr/>
        </p:nvSpPr>
        <p:spPr>
          <a:xfrm>
            <a:off x="9162691" y="3387018"/>
            <a:ext cx="2743200" cy="1920240"/>
          </a:xfrm>
          <a:prstGeom prst="roundRect">
            <a:avLst>
              <a:gd name="adj" fmla="val 3810"/>
            </a:avLst>
          </a:prstGeom>
          <a:solidFill>
            <a:srgbClr val="EEF6FB"/>
          </a:solidFill>
          <a:ln w="12700">
            <a:solidFill>
              <a:srgbClr val="D7DEE8">
                <a:alpha val="70000"/>
              </a:srgbClr>
            </a:solidFill>
            <a:prstDash val="solid"/>
          </a:ln>
        </p:spPr>
        <p:txBody>
          <a:bodyPr/>
          <a:lstStyle/>
          <a:p>
            <a:endParaRPr lang="en-US"/>
          </a:p>
        </p:txBody>
      </p:sp>
      <p:sp>
        <p:nvSpPr>
          <p:cNvPr id="9" name="Text 7"/>
          <p:cNvSpPr/>
          <p:nvPr/>
        </p:nvSpPr>
        <p:spPr>
          <a:xfrm>
            <a:off x="9327283" y="3596065"/>
            <a:ext cx="2414016" cy="1691640"/>
          </a:xfrm>
          <a:prstGeom prst="rect">
            <a:avLst/>
          </a:prstGeom>
          <a:noFill/>
          <a:ln/>
        </p:spPr>
        <p:txBody>
          <a:bodyPr wrap="square" lIns="0" tIns="0" rIns="0" bIns="0" rtlCol="0" anchor="ctr">
            <a:normAutofit/>
          </a:bodyPr>
          <a:lstStyle/>
          <a:p>
            <a:pPr marL="285750" indent="-285750">
              <a:buFont typeface="Arial"/>
              <a:buChar char="•"/>
            </a:pPr>
            <a:r>
              <a:rPr lang="en-US" sz="1100" b="1">
                <a:solidFill>
                  <a:srgbClr val="1F2937"/>
                </a:solidFill>
                <a:latin typeface="Segoe UI"/>
                <a:cs typeface="Segoe UI"/>
              </a:rPr>
              <a:t>Pre‑2020:</a:t>
            </a:r>
            <a:r>
              <a:rPr lang="en-US" sz="1100">
                <a:solidFill>
                  <a:srgbClr val="1F2937"/>
                </a:solidFill>
                <a:latin typeface="Segoe UI"/>
                <a:cs typeface="Segoe UI"/>
              </a:rPr>
              <a:t> Stable employment with low unemployment</a:t>
            </a:r>
            <a:endParaRPr lang="en-US"/>
          </a:p>
          <a:p>
            <a:pPr marL="285750" indent="-285750">
              <a:buFont typeface="Arial"/>
              <a:buChar char="•"/>
            </a:pPr>
            <a:r>
              <a:rPr lang="en-US" sz="1100" b="1">
                <a:solidFill>
                  <a:srgbClr val="1F2937"/>
                </a:solidFill>
                <a:latin typeface="Segoe UI"/>
                <a:cs typeface="Segoe UI"/>
              </a:rPr>
              <a:t>2020:</a:t>
            </a:r>
            <a:r>
              <a:rPr lang="en-US" sz="1100">
                <a:solidFill>
                  <a:srgbClr val="1F2937"/>
                </a:solidFill>
                <a:latin typeface="Segoe UI"/>
                <a:cs typeface="Segoe UI"/>
              </a:rPr>
              <a:t> Sharp drop in employment and spike in unemployment (COVID‑19 shock)</a:t>
            </a:r>
            <a:endParaRPr lang="en-US"/>
          </a:p>
          <a:p>
            <a:pPr marL="285750" indent="-285750">
              <a:buFont typeface="Arial"/>
              <a:buChar char="•"/>
            </a:pPr>
            <a:r>
              <a:rPr lang="en-US" sz="1100" b="1">
                <a:solidFill>
                  <a:srgbClr val="1F2937"/>
                </a:solidFill>
                <a:latin typeface="Segoe UI"/>
                <a:cs typeface="Segoe UI"/>
              </a:rPr>
              <a:t>Post‑2020:</a:t>
            </a:r>
            <a:r>
              <a:rPr lang="en-US" sz="1100">
                <a:solidFill>
                  <a:srgbClr val="1F2937"/>
                </a:solidFill>
                <a:latin typeface="Segoe UI"/>
                <a:cs typeface="Segoe UI"/>
              </a:rPr>
              <a:t> Gradual employment recovery and declining unemployment</a:t>
            </a:r>
            <a:endParaRPr lang="en-US"/>
          </a:p>
          <a:p>
            <a:pPr marL="0" indent="0">
              <a:buNone/>
            </a:pPr>
            <a:endParaRPr lang="en-US" sz="1300">
              <a:solidFill>
                <a:srgbClr val="1F2937"/>
              </a:solidFill>
            </a:endParaRPr>
          </a:p>
        </p:txBody>
      </p:sp>
      <p:sp>
        <p:nvSpPr>
          <p:cNvPr id="10" name="Shape 8"/>
          <p:cNvSpPr/>
          <p:nvPr/>
        </p:nvSpPr>
        <p:spPr>
          <a:xfrm>
            <a:off x="9162691" y="1549304"/>
            <a:ext cx="2743200" cy="1325880"/>
          </a:xfrm>
          <a:prstGeom prst="roundRect">
            <a:avLst>
              <a:gd name="adj" fmla="val 5517"/>
            </a:avLst>
          </a:prstGeom>
          <a:solidFill>
            <a:srgbClr val="F0FAF8"/>
          </a:solidFill>
          <a:ln w="12700">
            <a:solidFill>
              <a:srgbClr val="D7DEE8">
                <a:alpha val="70000"/>
              </a:srgbClr>
            </a:solidFill>
            <a:prstDash val="solid"/>
          </a:ln>
        </p:spPr>
        <p:txBody>
          <a:bodyPr/>
          <a:lstStyle/>
          <a:p>
            <a:endParaRPr lang="en-US"/>
          </a:p>
        </p:txBody>
      </p:sp>
      <p:sp>
        <p:nvSpPr>
          <p:cNvPr id="11" name="Text 9"/>
          <p:cNvSpPr/>
          <p:nvPr/>
        </p:nvSpPr>
        <p:spPr>
          <a:xfrm>
            <a:off x="9327283" y="1643332"/>
            <a:ext cx="2414016" cy="1097280"/>
          </a:xfrm>
          <a:prstGeom prst="rect">
            <a:avLst/>
          </a:prstGeom>
          <a:noFill/>
          <a:ln/>
        </p:spPr>
        <p:txBody>
          <a:bodyPr wrap="square" lIns="0" tIns="0" rIns="0" bIns="0" rtlCol="0" anchor="ctr">
            <a:normAutofit/>
          </a:bodyPr>
          <a:lstStyle/>
          <a:p>
            <a:r>
              <a:rPr lang="en-US" sz="1100">
                <a:solidFill>
                  <a:srgbClr val="1F2937"/>
                </a:solidFill>
                <a:latin typeface="Segoe UI"/>
                <a:cs typeface="Segoe UI"/>
              </a:rPr>
              <a:t>This chart tracks employment and unemployment in North Carolina from 201</a:t>
            </a:r>
            <a:r>
              <a:rPr lang="es-ES" sz="1100">
                <a:solidFill>
                  <a:srgbClr val="1F2937"/>
                </a:solidFill>
                <a:latin typeface="Segoe UI"/>
                <a:cs typeface="Segoe UI"/>
              </a:rPr>
              <a:t>6-2026. The </a:t>
            </a:r>
            <a:r>
              <a:rPr lang="en-US" sz="1100">
                <a:solidFill>
                  <a:srgbClr val="1F2937"/>
                </a:solidFill>
                <a:latin typeface="Segoe UI"/>
                <a:cs typeface="Segoe UI"/>
              </a:rPr>
              <a:t>two variables move in opposite directions, consistent with standard labor market dynamics.</a:t>
            </a:r>
            <a:endParaRPr lang="en-US" sz="1100">
              <a:latin typeface="Segoe UI"/>
              <a:cs typeface="Segoe UI"/>
            </a:endParaRPr>
          </a:p>
        </p:txBody>
      </p:sp>
      <p:sp>
        <p:nvSpPr>
          <p:cNvPr id="12" name="Text 10"/>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3" name="Text 11"/>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05</a:t>
            </a:r>
            <a:endParaRPr lang="en-US" sz="700"/>
          </a:p>
        </p:txBody>
      </p:sp>
      <p:pic>
        <p:nvPicPr>
          <p:cNvPr id="14" name="Picture 13" descr="A graph with different colored lines&#10;&#10;AI-generated content may be incorrect.">
            <a:extLst>
              <a:ext uri="{FF2B5EF4-FFF2-40B4-BE49-F238E27FC236}">
                <a16:creationId xmlns:a16="http://schemas.microsoft.com/office/drawing/2014/main" id="{BB1D5E9A-C126-B478-B732-9AECC195CB63}"/>
              </a:ext>
            </a:extLst>
          </p:cNvPr>
          <p:cNvPicPr>
            <a:picLocks noChangeAspect="1"/>
          </p:cNvPicPr>
          <p:nvPr/>
        </p:nvPicPr>
        <p:blipFill>
          <a:blip r:embed="rId3"/>
          <a:stretch>
            <a:fillRect/>
          </a:stretch>
        </p:blipFill>
        <p:spPr>
          <a:xfrm>
            <a:off x="517583" y="1639476"/>
            <a:ext cx="8367624" cy="39241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7484" y="-49161"/>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Research Question 1: Unemployment vs. Wages</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How strongly are unemployment changes related to average hourly wages?</a:t>
            </a:r>
            <a:endParaRPr lang="en-US" sz="950"/>
          </a:p>
        </p:txBody>
      </p:sp>
      <p:sp>
        <p:nvSpPr>
          <p:cNvPr id="7" name="Text 5"/>
          <p:cNvSpPr/>
          <p:nvPr/>
        </p:nvSpPr>
        <p:spPr>
          <a:xfrm>
            <a:off x="1508760" y="2743200"/>
            <a:ext cx="3657600" cy="777240"/>
          </a:xfrm>
          <a:prstGeom prst="rect">
            <a:avLst/>
          </a:prstGeom>
          <a:noFill/>
          <a:ln/>
        </p:spPr>
        <p:txBody>
          <a:bodyPr wrap="square" lIns="0" tIns="0" rIns="0" bIns="0" rtlCol="0" anchor="ctr">
            <a:normAutofit fontScale="77500" lnSpcReduction="20000"/>
          </a:bodyPr>
          <a:lstStyle/>
          <a:p>
            <a:pPr marL="0" indent="0" algn="ctr">
              <a:buNone/>
            </a:pPr>
            <a:r>
              <a:rPr lang="en-US" sz="1800" b="1">
                <a:solidFill>
                  <a:srgbClr val="7B8794"/>
                </a:solidFill>
              </a:rPr>
              <a:t>PLACEHOLDER</a:t>
            </a:r>
            <a:endParaRPr lang="en-US" sz="1800"/>
          </a:p>
          <a:p>
            <a:pPr marL="0" indent="0" algn="ctr">
              <a:buNone/>
            </a:pPr>
            <a:r>
              <a:rPr lang="en-US" sz="1800" b="1">
                <a:solidFill>
                  <a:srgbClr val="7B8794"/>
                </a:solidFill>
              </a:rPr>
              <a:t>Tableau scatterplot:</a:t>
            </a:r>
            <a:endParaRPr lang="en-US" sz="1800"/>
          </a:p>
          <a:p>
            <a:pPr marL="0" indent="0" algn="ctr">
              <a:buNone/>
            </a:pPr>
            <a:r>
              <a:rPr lang="en-US" sz="1800" b="1">
                <a:solidFill>
                  <a:srgbClr val="7B8794"/>
                </a:solidFill>
              </a:rPr>
              <a:t>Unemployment rate vs. average hourly wage</a:t>
            </a:r>
            <a:endParaRPr lang="en-US" sz="1800"/>
          </a:p>
          <a:p>
            <a:pPr marL="0" indent="0" algn="ctr">
              <a:buNone/>
            </a:pPr>
            <a:r>
              <a:rPr lang="en-US" sz="1800" b="1">
                <a:solidFill>
                  <a:srgbClr val="7B8794"/>
                </a:solidFill>
              </a:rPr>
              <a:t>Add trend line + R²</a:t>
            </a:r>
            <a:endParaRPr lang="en-US" sz="1800"/>
          </a:p>
        </p:txBody>
      </p:sp>
      <p:sp>
        <p:nvSpPr>
          <p:cNvPr id="8" name="Shape 6"/>
          <p:cNvSpPr/>
          <p:nvPr/>
        </p:nvSpPr>
        <p:spPr>
          <a:xfrm>
            <a:off x="7073325" y="1466481"/>
            <a:ext cx="4475153" cy="1199536"/>
          </a:xfrm>
          <a:prstGeom prst="roundRect">
            <a:avLst>
              <a:gd name="adj" fmla="val 5333"/>
            </a:avLst>
          </a:prstGeom>
          <a:solidFill>
            <a:srgbClr val="F5F7FA"/>
          </a:solidFill>
          <a:ln w="12700">
            <a:solidFill>
              <a:srgbClr val="D7DEE8">
                <a:alpha val="70000"/>
              </a:srgbClr>
            </a:solidFill>
            <a:prstDash val="solid"/>
          </a:ln>
        </p:spPr>
        <p:txBody>
          <a:bodyPr/>
          <a:lstStyle/>
          <a:p>
            <a:endParaRPr lang="en-US"/>
          </a:p>
        </p:txBody>
      </p:sp>
      <p:sp>
        <p:nvSpPr>
          <p:cNvPr id="9" name="Text 7"/>
          <p:cNvSpPr/>
          <p:nvPr/>
        </p:nvSpPr>
        <p:spPr>
          <a:xfrm>
            <a:off x="7188756" y="1640512"/>
            <a:ext cx="4195130" cy="1007808"/>
          </a:xfrm>
          <a:prstGeom prst="rect">
            <a:avLst/>
          </a:prstGeom>
          <a:noFill/>
          <a:ln/>
        </p:spPr>
        <p:txBody>
          <a:bodyPr wrap="square" lIns="0" tIns="0" rIns="0" bIns="0" rtlCol="0" anchor="ctr">
            <a:normAutofit/>
          </a:bodyPr>
          <a:lstStyle/>
          <a:p>
            <a:pPr>
              <a:buNone/>
            </a:pPr>
            <a:r>
              <a:rPr lang="en-US" sz="1100">
                <a:solidFill>
                  <a:srgbClr val="1F2937"/>
                </a:solidFill>
                <a:latin typeface="Segoe UI"/>
                <a:cs typeface="Segoe UI"/>
              </a:rPr>
              <a:t>A negative relationship suggests that wages tend to be higher when labor markets are tighter (lower unemployment). In this data, wages increase as unemployment falls, but the relationship is relatively weak, indicating that wage growth is influenced by additional factors.</a:t>
            </a:r>
          </a:p>
          <a:p>
            <a:pPr marL="0" indent="0">
              <a:buNone/>
            </a:pPr>
            <a:endParaRPr lang="en-US" sz="1300">
              <a:solidFill>
                <a:srgbClr val="1F2937"/>
              </a:solidFill>
            </a:endParaRPr>
          </a:p>
        </p:txBody>
      </p:sp>
      <p:sp>
        <p:nvSpPr>
          <p:cNvPr id="10" name="Shape 8"/>
          <p:cNvSpPr/>
          <p:nvPr/>
        </p:nvSpPr>
        <p:spPr>
          <a:xfrm>
            <a:off x="7159357" y="3024895"/>
            <a:ext cx="4364540" cy="1300807"/>
          </a:xfrm>
          <a:prstGeom prst="roundRect">
            <a:avLst>
              <a:gd name="adj" fmla="val 7273"/>
            </a:avLst>
          </a:prstGeom>
          <a:solidFill>
            <a:srgbClr val="FFF7EC"/>
          </a:solidFill>
          <a:ln w="12700">
            <a:solidFill>
              <a:srgbClr val="D7DEE8">
                <a:alpha val="70000"/>
              </a:srgbClr>
            </a:solidFill>
            <a:prstDash val="solid"/>
          </a:ln>
        </p:spPr>
        <p:txBody>
          <a:bodyPr/>
          <a:lstStyle/>
          <a:p>
            <a:endParaRPr lang="en-US"/>
          </a:p>
        </p:txBody>
      </p:sp>
      <p:sp>
        <p:nvSpPr>
          <p:cNvPr id="11" name="Text 9"/>
          <p:cNvSpPr/>
          <p:nvPr/>
        </p:nvSpPr>
        <p:spPr>
          <a:xfrm>
            <a:off x="7311659" y="3112893"/>
            <a:ext cx="4195130" cy="1121370"/>
          </a:xfrm>
          <a:prstGeom prst="rect">
            <a:avLst/>
          </a:prstGeom>
          <a:noFill/>
          <a:ln/>
        </p:spPr>
        <p:txBody>
          <a:bodyPr wrap="square" lIns="0" tIns="0" rIns="0" bIns="0" rtlCol="0" anchor="ctr">
            <a:normAutofit fontScale="47500" lnSpcReduction="20000"/>
          </a:bodyPr>
          <a:lstStyle/>
          <a:p>
            <a:pPr marL="285750" indent="-285750">
              <a:buFont typeface="Arial"/>
              <a:buChar char="•"/>
            </a:pPr>
            <a:r>
              <a:rPr lang="en-US" sz="2300" b="1">
                <a:solidFill>
                  <a:srgbClr val="1F2937"/>
                </a:solidFill>
                <a:latin typeface="Segoe UI"/>
                <a:cs typeface="Segoe UI"/>
              </a:rPr>
              <a:t>Tr</a:t>
            </a:r>
            <a:r>
              <a:rPr lang="en-US" sz="2500" b="1">
                <a:solidFill>
                  <a:srgbClr val="1F2937"/>
                </a:solidFill>
                <a:latin typeface="Segoe UI"/>
                <a:cs typeface="Segoe UI"/>
              </a:rPr>
              <a:t>end‑line direction:</a:t>
            </a:r>
            <a:r>
              <a:rPr lang="en-US" sz="2500">
                <a:solidFill>
                  <a:srgbClr val="1F2937"/>
                </a:solidFill>
                <a:latin typeface="Segoe UI"/>
                <a:cs typeface="Segoe UI"/>
              </a:rPr>
              <a:t> Negative</a:t>
            </a:r>
            <a:endParaRPr lang="en-US" sz="2500"/>
          </a:p>
          <a:p>
            <a:pPr marL="285750" indent="-285750">
              <a:buFont typeface="Arial"/>
              <a:buChar char="•"/>
            </a:pPr>
            <a:r>
              <a:rPr lang="en-US" sz="2500" b="1">
                <a:solidFill>
                  <a:srgbClr val="1F2937"/>
                </a:solidFill>
                <a:latin typeface="Segoe UI"/>
                <a:cs typeface="Segoe UI"/>
              </a:rPr>
              <a:t>Correlation:</a:t>
            </a:r>
            <a:r>
              <a:rPr lang="en-US" sz="2500">
                <a:solidFill>
                  <a:srgbClr val="1F2937"/>
                </a:solidFill>
                <a:latin typeface="Segoe UI"/>
                <a:cs typeface="Segoe UI"/>
              </a:rPr>
              <a:t> Negative (implied by slope)</a:t>
            </a:r>
            <a:endParaRPr lang="en-US" sz="2500"/>
          </a:p>
          <a:p>
            <a:pPr marL="285750" indent="-285750">
              <a:buFont typeface="Arial"/>
              <a:buChar char="•"/>
            </a:pPr>
            <a:r>
              <a:rPr lang="en-US" sz="2500" b="1">
                <a:solidFill>
                  <a:srgbClr val="1F2937"/>
                </a:solidFill>
                <a:latin typeface="Segoe UI"/>
                <a:cs typeface="Segoe UI"/>
              </a:rPr>
              <a:t>R²:</a:t>
            </a:r>
            <a:r>
              <a:rPr lang="en-US" sz="2500">
                <a:solidFill>
                  <a:srgbClr val="1F2937"/>
                </a:solidFill>
                <a:latin typeface="Segoe UI"/>
                <a:cs typeface="Segoe UI"/>
              </a:rPr>
              <a:t> 0.10</a:t>
            </a:r>
            <a:endParaRPr lang="en-US" sz="2500"/>
          </a:p>
          <a:p>
            <a:pPr marL="285750" indent="-285750">
              <a:buFont typeface="Arial"/>
              <a:buChar char="•"/>
            </a:pPr>
            <a:r>
              <a:rPr lang="en-US" sz="2500" b="1">
                <a:solidFill>
                  <a:srgbClr val="1F2937"/>
                </a:solidFill>
                <a:latin typeface="Segoe UI"/>
                <a:cs typeface="Segoe UI"/>
              </a:rPr>
              <a:t>Statistical significance:</a:t>
            </a:r>
            <a:r>
              <a:rPr lang="en-US" sz="2500">
                <a:solidFill>
                  <a:srgbClr val="1F2937"/>
                </a:solidFill>
                <a:latin typeface="Segoe UI"/>
                <a:cs typeface="Segoe UI"/>
              </a:rPr>
              <a:t> p &lt; 0.</a:t>
            </a:r>
            <a:r>
              <a:rPr lang="en-US" sz="2600">
                <a:solidFill>
                  <a:srgbClr val="1F2937"/>
                </a:solidFill>
                <a:latin typeface="Segoe UI"/>
                <a:cs typeface="Segoe UI"/>
              </a:rPr>
              <a:t>001</a:t>
            </a:r>
            <a:endParaRPr lang="en-US" sz="2600"/>
          </a:p>
          <a:p>
            <a:pPr marL="285750" indent="-285750">
              <a:buFont typeface="Arial"/>
              <a:buChar char="•"/>
            </a:pPr>
            <a:endParaRPr lang="en-US" sz="2500">
              <a:solidFill>
                <a:srgbClr val="1F2937"/>
              </a:solidFill>
              <a:latin typeface="Segoe UI"/>
              <a:cs typeface="Segoe UI"/>
            </a:endParaRPr>
          </a:p>
          <a:p>
            <a:r>
              <a:rPr lang="en-US" sz="2500">
                <a:solidFill>
                  <a:srgbClr val="1F2937"/>
                </a:solidFill>
                <a:latin typeface="Segoe UI"/>
                <a:cs typeface="Segoe UI"/>
              </a:rPr>
              <a:t>The relationship is statistically significant but explains a limited share of wage variation</a:t>
            </a:r>
            <a:r>
              <a:rPr lang="en-US" sz="1100">
                <a:solidFill>
                  <a:srgbClr val="1F2937"/>
                </a:solidFill>
                <a:latin typeface="Segoe UI"/>
                <a:cs typeface="Segoe UI"/>
              </a:rPr>
              <a:t>.</a:t>
            </a:r>
          </a:p>
          <a:p>
            <a:pPr marL="285750" indent="-285750">
              <a:buFont typeface="Arial"/>
              <a:buChar char="•"/>
            </a:pPr>
            <a:endParaRPr lang="en-US" sz="1100">
              <a:solidFill>
                <a:srgbClr val="1F2937"/>
              </a:solidFill>
              <a:latin typeface="Segoe UI"/>
              <a:cs typeface="Segoe UI"/>
            </a:endParaRPr>
          </a:p>
          <a:p>
            <a:endParaRPr lang="en-US" sz="1300">
              <a:solidFill>
                <a:srgbClr val="1F2937"/>
              </a:solidFill>
            </a:endParaRPr>
          </a:p>
        </p:txBody>
      </p:sp>
      <p:sp>
        <p:nvSpPr>
          <p:cNvPr id="12" name="Shape 10"/>
          <p:cNvSpPr/>
          <p:nvPr/>
        </p:nvSpPr>
        <p:spPr>
          <a:xfrm>
            <a:off x="7134776" y="4706602"/>
            <a:ext cx="4389122" cy="1337680"/>
          </a:xfrm>
          <a:prstGeom prst="roundRect">
            <a:avLst>
              <a:gd name="adj" fmla="val 7273"/>
            </a:avLst>
          </a:prstGeom>
          <a:solidFill>
            <a:srgbClr val="EEF6FB"/>
          </a:solidFill>
          <a:ln w="12700">
            <a:solidFill>
              <a:srgbClr val="D7DEE8">
                <a:alpha val="70000"/>
              </a:srgbClr>
            </a:solidFill>
            <a:prstDash val="solid"/>
          </a:ln>
        </p:spPr>
        <p:txBody>
          <a:bodyPr/>
          <a:lstStyle/>
          <a:p>
            <a:endParaRPr lang="en-US"/>
          </a:p>
        </p:txBody>
      </p:sp>
      <p:sp>
        <p:nvSpPr>
          <p:cNvPr id="13" name="Text 11"/>
          <p:cNvSpPr/>
          <p:nvPr/>
        </p:nvSpPr>
        <p:spPr>
          <a:xfrm>
            <a:off x="7188756" y="4733151"/>
            <a:ext cx="4195130" cy="1465498"/>
          </a:xfrm>
          <a:prstGeom prst="rect">
            <a:avLst/>
          </a:prstGeom>
          <a:noFill/>
          <a:ln/>
        </p:spPr>
        <p:txBody>
          <a:bodyPr wrap="square" lIns="0" tIns="0" rIns="0" bIns="0" rtlCol="0" anchor="ctr">
            <a:normAutofit/>
          </a:bodyPr>
          <a:lstStyle/>
          <a:p>
            <a:r>
              <a:rPr lang="en-US" sz="1100">
                <a:solidFill>
                  <a:srgbClr val="1F2937"/>
                </a:solidFill>
                <a:latin typeface="Segoe UI"/>
                <a:cs typeface="Segoe UI"/>
              </a:rPr>
              <a:t>From 2016–2026, unemployment fluctuated—rising sharply during 2020 and declining during recovery—while average hourly wages steadily increased. The relationship appears weak because unemployment explains only about 10% of wage variation, suggesting other economic forces play a larger role.</a:t>
            </a:r>
            <a:endParaRPr lang="en-US"/>
          </a:p>
          <a:p>
            <a:pPr marL="0" indent="0">
              <a:buNone/>
            </a:pPr>
            <a:endParaRPr lang="en-US" sz="1300">
              <a:solidFill>
                <a:srgbClr val="1F2937"/>
              </a:solidFill>
            </a:endParaRPr>
          </a:p>
        </p:txBody>
      </p:sp>
      <p:sp>
        <p:nvSpPr>
          <p:cNvPr id="14" name="Text 12"/>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5" name="Text 13"/>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06</a:t>
            </a:r>
            <a:endParaRPr lang="en-US" sz="700"/>
          </a:p>
        </p:txBody>
      </p:sp>
      <p:pic>
        <p:nvPicPr>
          <p:cNvPr id="16" name="Picture 15" descr="A graph showing the amount of unemployment rate&#10;&#10;AI-generated content may be incorrect.">
            <a:extLst>
              <a:ext uri="{FF2B5EF4-FFF2-40B4-BE49-F238E27FC236}">
                <a16:creationId xmlns:a16="http://schemas.microsoft.com/office/drawing/2014/main" id="{0569DCE1-0A21-525F-DC73-D1935295F60B}"/>
              </a:ext>
            </a:extLst>
          </p:cNvPr>
          <p:cNvPicPr>
            <a:picLocks noChangeAspect="1"/>
          </p:cNvPicPr>
          <p:nvPr/>
        </p:nvPicPr>
        <p:blipFill>
          <a:blip r:embed="rId3"/>
          <a:stretch>
            <a:fillRect/>
          </a:stretch>
        </p:blipFill>
        <p:spPr>
          <a:xfrm>
            <a:off x="503902" y="1810969"/>
            <a:ext cx="6378680" cy="32237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Research Question 2: Employment Levels &amp; Wage Growth</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Can employment help predict wage increases?</a:t>
            </a:r>
            <a:endParaRPr lang="en-US" sz="950"/>
          </a:p>
        </p:txBody>
      </p:sp>
      <p:sp>
        <p:nvSpPr>
          <p:cNvPr id="7" name="Text 5"/>
          <p:cNvSpPr/>
          <p:nvPr/>
        </p:nvSpPr>
        <p:spPr>
          <a:xfrm>
            <a:off x="1508760" y="2743200"/>
            <a:ext cx="3657600" cy="777240"/>
          </a:xfrm>
          <a:prstGeom prst="rect">
            <a:avLst/>
          </a:prstGeom>
          <a:noFill/>
          <a:ln/>
        </p:spPr>
        <p:txBody>
          <a:bodyPr wrap="square" lIns="0" tIns="0" rIns="0" bIns="0" rtlCol="0" anchor="ctr">
            <a:normAutofit fontScale="85000" lnSpcReduction="20000"/>
          </a:bodyPr>
          <a:lstStyle/>
          <a:p>
            <a:pPr marL="0" indent="0" algn="ctr">
              <a:buNone/>
            </a:pPr>
            <a:r>
              <a:rPr lang="en-US" sz="1800" b="1">
                <a:solidFill>
                  <a:srgbClr val="7B8794"/>
                </a:solidFill>
              </a:rPr>
              <a:t>PLACEHOLDER</a:t>
            </a:r>
            <a:endParaRPr lang="en-US" sz="1800"/>
          </a:p>
          <a:p>
            <a:pPr marL="0" indent="0" algn="ctr">
              <a:buNone/>
            </a:pPr>
            <a:r>
              <a:rPr lang="en-US" sz="1800" b="1">
                <a:solidFill>
                  <a:srgbClr val="7B8794"/>
                </a:solidFill>
              </a:rPr>
              <a:t> Excel chart:</a:t>
            </a:r>
            <a:endParaRPr lang="en-US" sz="1800"/>
          </a:p>
          <a:p>
            <a:pPr marL="0" indent="0" algn="ctr">
              <a:buNone/>
            </a:pPr>
            <a:r>
              <a:rPr lang="en-US" sz="1800" b="1">
                <a:solidFill>
                  <a:srgbClr val="7B8794"/>
                </a:solidFill>
              </a:rPr>
              <a:t>Employment level vs. average hourly wage</a:t>
            </a:r>
            <a:endParaRPr lang="en-US" sz="1800"/>
          </a:p>
          <a:p>
            <a:pPr marL="0" indent="0" algn="ctr">
              <a:buNone/>
            </a:pPr>
            <a:r>
              <a:rPr lang="en-US" sz="1800" b="1">
                <a:solidFill>
                  <a:srgbClr val="7B8794"/>
                </a:solidFill>
              </a:rPr>
              <a:t>Regression equation shown</a:t>
            </a:r>
            <a:endParaRPr lang="en-US" sz="1800"/>
          </a:p>
        </p:txBody>
      </p:sp>
      <p:sp>
        <p:nvSpPr>
          <p:cNvPr id="8" name="Text 6"/>
          <p:cNvSpPr/>
          <p:nvPr/>
        </p:nvSpPr>
        <p:spPr>
          <a:xfrm>
            <a:off x="6400800" y="1325880"/>
            <a:ext cx="2743200" cy="228600"/>
          </a:xfrm>
          <a:prstGeom prst="rect">
            <a:avLst/>
          </a:prstGeom>
          <a:noFill/>
          <a:ln/>
        </p:spPr>
        <p:txBody>
          <a:bodyPr wrap="square" lIns="0" tIns="0" rIns="0" bIns="0" rtlCol="0" anchor="ctr"/>
          <a:lstStyle/>
          <a:p>
            <a:pPr marL="0" indent="0">
              <a:buNone/>
            </a:pPr>
            <a:r>
              <a:rPr lang="en-US" sz="1600" b="1">
                <a:solidFill>
                  <a:srgbClr val="173A5E"/>
                </a:solidFill>
              </a:rPr>
              <a:t>Regression model idea</a:t>
            </a:r>
            <a:endParaRPr lang="en-US" sz="1600"/>
          </a:p>
        </p:txBody>
      </p:sp>
      <p:sp>
        <p:nvSpPr>
          <p:cNvPr id="9" name="Shape 7"/>
          <p:cNvSpPr/>
          <p:nvPr/>
        </p:nvSpPr>
        <p:spPr>
          <a:xfrm>
            <a:off x="6446520" y="1737360"/>
            <a:ext cx="4297680" cy="594360"/>
          </a:xfrm>
          <a:prstGeom prst="roundRect">
            <a:avLst>
              <a:gd name="adj" fmla="val 7692"/>
            </a:avLst>
          </a:prstGeom>
          <a:solidFill>
            <a:srgbClr val="EAF2FB"/>
          </a:solidFill>
          <a:ln w="12700">
            <a:solidFill>
              <a:srgbClr val="EAF2FB">
                <a:alpha val="0"/>
              </a:srgbClr>
            </a:solidFill>
            <a:prstDash val="solid"/>
          </a:ln>
        </p:spPr>
        <p:txBody>
          <a:bodyPr/>
          <a:lstStyle/>
          <a:p>
            <a:endParaRPr lang="en-US"/>
          </a:p>
        </p:txBody>
      </p:sp>
      <p:sp>
        <p:nvSpPr>
          <p:cNvPr id="10" name="Text 8"/>
          <p:cNvSpPr/>
          <p:nvPr/>
        </p:nvSpPr>
        <p:spPr>
          <a:xfrm>
            <a:off x="6629400" y="1938528"/>
            <a:ext cx="3886200" cy="146304"/>
          </a:xfrm>
          <a:prstGeom prst="rect">
            <a:avLst/>
          </a:prstGeom>
          <a:noFill/>
          <a:ln/>
        </p:spPr>
        <p:txBody>
          <a:bodyPr wrap="square" lIns="0" tIns="0" rIns="0" bIns="0" rtlCol="0" anchor="ctr"/>
          <a:lstStyle/>
          <a:p>
            <a:pPr marL="0" indent="0" algn="ctr">
              <a:buNone/>
            </a:pPr>
            <a:r>
              <a:rPr lang="en-US" sz="1500" b="1">
                <a:solidFill>
                  <a:srgbClr val="173A5E"/>
                </a:solidFill>
              </a:rPr>
              <a:t>Avg. Hourly Wage = β₀ + β₁(Employment Level) + ε</a:t>
            </a:r>
            <a:endParaRPr lang="en-US" sz="1500"/>
          </a:p>
        </p:txBody>
      </p:sp>
      <p:sp>
        <p:nvSpPr>
          <p:cNvPr id="11" name="Shape 9"/>
          <p:cNvSpPr/>
          <p:nvPr/>
        </p:nvSpPr>
        <p:spPr>
          <a:xfrm>
            <a:off x="6446520" y="2926080"/>
            <a:ext cx="4297680" cy="1188720"/>
          </a:xfrm>
          <a:prstGeom prst="roundRect">
            <a:avLst>
              <a:gd name="adj" fmla="val 6154"/>
            </a:avLst>
          </a:prstGeom>
          <a:solidFill>
            <a:srgbClr val="F5F7FA"/>
          </a:solidFill>
          <a:ln w="12700">
            <a:solidFill>
              <a:srgbClr val="D7DEE8">
                <a:alpha val="70000"/>
              </a:srgbClr>
            </a:solidFill>
            <a:prstDash val="solid"/>
          </a:ln>
        </p:spPr>
        <p:txBody>
          <a:bodyPr/>
          <a:lstStyle/>
          <a:p>
            <a:endParaRPr lang="en-US"/>
          </a:p>
        </p:txBody>
      </p:sp>
      <p:sp>
        <p:nvSpPr>
          <p:cNvPr id="12" name="Text 10"/>
          <p:cNvSpPr/>
          <p:nvPr/>
        </p:nvSpPr>
        <p:spPr>
          <a:xfrm>
            <a:off x="6622400" y="3097106"/>
            <a:ext cx="3928986" cy="926254"/>
          </a:xfrm>
          <a:prstGeom prst="rect">
            <a:avLst/>
          </a:prstGeom>
          <a:noFill/>
          <a:ln/>
        </p:spPr>
        <p:txBody>
          <a:bodyPr wrap="square" lIns="0" tIns="0" rIns="0" bIns="0" rtlCol="0" anchor="ctr">
            <a:normAutofit fontScale="92500"/>
          </a:bodyPr>
          <a:lstStyle/>
          <a:p>
            <a:pPr marL="0" indent="0">
              <a:buNone/>
            </a:pPr>
            <a:r>
              <a:rPr lang="en-US" b="1">
                <a:solidFill>
                  <a:srgbClr val="000000"/>
                </a:solidFill>
              </a:rPr>
              <a:t>Interpretation</a:t>
            </a:r>
          </a:p>
          <a:p>
            <a:r>
              <a:rPr lang="en-US" sz="1300">
                <a:solidFill>
                  <a:srgbClr val="1F2937"/>
                </a:solidFill>
                <a:ea typeface="+mn-lt"/>
                <a:cs typeface="+mn-lt"/>
              </a:rPr>
              <a:t>Positive relationship: higher employment → higher wages </a:t>
            </a:r>
            <a:endParaRPr lang="en-US">
              <a:solidFill>
                <a:srgbClr val="000000"/>
              </a:solidFill>
              <a:ea typeface="+mn-lt"/>
              <a:cs typeface="+mn-lt"/>
            </a:endParaRPr>
          </a:p>
          <a:p>
            <a:r>
              <a:rPr lang="en-US" sz="1300">
                <a:solidFill>
                  <a:srgbClr val="1F2937"/>
                </a:solidFill>
                <a:ea typeface="+mn-lt"/>
                <a:cs typeface="+mn-lt"/>
              </a:rPr>
              <a:t>Effect is meaningful but not perfect </a:t>
            </a:r>
            <a:endParaRPr lang="en-US"/>
          </a:p>
          <a:p>
            <a:r>
              <a:rPr lang="en-US" sz="1300">
                <a:solidFill>
                  <a:srgbClr val="1F2937"/>
                </a:solidFill>
                <a:ea typeface="+mn-lt"/>
                <a:cs typeface="+mn-lt"/>
              </a:rPr>
              <a:t>Other factors also influence wage growth</a:t>
            </a:r>
            <a:endParaRPr lang="en-US">
              <a:ea typeface="+mn-lt"/>
              <a:cs typeface="+mn-lt"/>
            </a:endParaRPr>
          </a:p>
          <a:p>
            <a:pPr marL="0" indent="0">
              <a:buNone/>
            </a:pPr>
            <a:endParaRPr lang="en-US" sz="1300">
              <a:solidFill>
                <a:srgbClr val="1F2937"/>
              </a:solidFill>
            </a:endParaRPr>
          </a:p>
        </p:txBody>
      </p:sp>
      <p:sp>
        <p:nvSpPr>
          <p:cNvPr id="13" name="Shape 11"/>
          <p:cNvSpPr/>
          <p:nvPr/>
        </p:nvSpPr>
        <p:spPr>
          <a:xfrm>
            <a:off x="6471101" y="4480560"/>
            <a:ext cx="4297680" cy="777240"/>
          </a:xfrm>
          <a:prstGeom prst="roundRect">
            <a:avLst>
              <a:gd name="adj" fmla="val 9412"/>
            </a:avLst>
          </a:prstGeom>
          <a:solidFill>
            <a:srgbClr val="F0FAF8"/>
          </a:solidFill>
          <a:ln w="12700">
            <a:solidFill>
              <a:srgbClr val="D7DEE8">
                <a:alpha val="70000"/>
              </a:srgbClr>
            </a:solidFill>
            <a:prstDash val="solid"/>
          </a:ln>
        </p:spPr>
        <p:txBody>
          <a:bodyPr/>
          <a:lstStyle/>
          <a:p>
            <a:endParaRPr lang="en-US"/>
          </a:p>
        </p:txBody>
      </p:sp>
      <p:sp>
        <p:nvSpPr>
          <p:cNvPr id="14" name="Text 12"/>
          <p:cNvSpPr/>
          <p:nvPr/>
        </p:nvSpPr>
        <p:spPr>
          <a:xfrm>
            <a:off x="6628045" y="4747542"/>
            <a:ext cx="3928988" cy="605084"/>
          </a:xfrm>
          <a:prstGeom prst="rect">
            <a:avLst/>
          </a:prstGeom>
          <a:noFill/>
          <a:ln/>
        </p:spPr>
        <p:txBody>
          <a:bodyPr wrap="square" lIns="0" tIns="0" rIns="0" bIns="0" rtlCol="0" anchor="ctr">
            <a:normAutofit fontScale="85000" lnSpcReduction="20000"/>
          </a:bodyPr>
          <a:lstStyle/>
          <a:p>
            <a:pPr>
              <a:buNone/>
            </a:pPr>
            <a:r>
              <a:rPr lang="en-US" b="1"/>
              <a:t>Include from Excel</a:t>
            </a:r>
          </a:p>
          <a:p>
            <a:r>
              <a:rPr lang="en-US" sz="1300" b="1">
                <a:solidFill>
                  <a:srgbClr val="1F2937"/>
                </a:solidFill>
                <a:ea typeface="+mn-lt"/>
                <a:cs typeface="+mn-lt"/>
              </a:rPr>
              <a:t>Slope (β₁): Positive</a:t>
            </a:r>
            <a:r>
              <a:rPr lang="en-US" sz="1300">
                <a:solidFill>
                  <a:srgbClr val="1F2937"/>
                </a:solidFill>
                <a:ea typeface="+mn-lt"/>
                <a:cs typeface="+mn-lt"/>
              </a:rPr>
              <a:t> </a:t>
            </a:r>
            <a:endParaRPr lang="en-US">
              <a:ea typeface="+mn-lt"/>
              <a:cs typeface="+mn-lt"/>
            </a:endParaRPr>
          </a:p>
          <a:p>
            <a:r>
              <a:rPr lang="en-US" sz="1300" b="1">
                <a:solidFill>
                  <a:srgbClr val="1F2937"/>
                </a:solidFill>
                <a:ea typeface="+mn-lt"/>
                <a:cs typeface="+mn-lt"/>
              </a:rPr>
              <a:t>R²: 0.694 (~69%)</a:t>
            </a:r>
            <a:r>
              <a:rPr lang="en-US" sz="1300">
                <a:solidFill>
                  <a:srgbClr val="1F2937"/>
                </a:solidFill>
                <a:ea typeface="+mn-lt"/>
                <a:cs typeface="+mn-lt"/>
              </a:rPr>
              <a:t> </a:t>
            </a:r>
            <a:endParaRPr lang="en-US">
              <a:ea typeface="+mn-lt"/>
              <a:cs typeface="+mn-lt"/>
            </a:endParaRPr>
          </a:p>
          <a:p>
            <a:r>
              <a:rPr lang="en-US" sz="1300" b="1">
                <a:solidFill>
                  <a:srgbClr val="1F2937"/>
                </a:solidFill>
                <a:ea typeface="+mn-lt"/>
                <a:cs typeface="+mn-lt"/>
              </a:rPr>
              <a:t>Meaning:</a:t>
            </a:r>
            <a:r>
              <a:rPr lang="en-US" sz="1300">
                <a:solidFill>
                  <a:srgbClr val="1F2937"/>
                </a:solidFill>
                <a:ea typeface="+mn-lt"/>
                <a:cs typeface="+mn-lt"/>
              </a:rPr>
              <a:t> Employment strongly helps predict wages</a:t>
            </a:r>
            <a:endParaRPr lang="en-US">
              <a:ea typeface="+mn-lt"/>
              <a:cs typeface="+mn-lt"/>
            </a:endParaRPr>
          </a:p>
          <a:p>
            <a:endParaRPr lang="en-US" sz="1300">
              <a:solidFill>
                <a:srgbClr val="1F2937"/>
              </a:solidFill>
            </a:endParaRPr>
          </a:p>
          <a:p>
            <a:pPr marL="0" indent="0">
              <a:buNone/>
            </a:pPr>
            <a:endParaRPr lang="en-US" sz="1300">
              <a:solidFill>
                <a:srgbClr val="1F2937"/>
              </a:solidFill>
            </a:endParaRPr>
          </a:p>
        </p:txBody>
      </p:sp>
      <p:sp>
        <p:nvSpPr>
          <p:cNvPr id="15" name="Text 13"/>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6" name="Text 14"/>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07</a:t>
            </a:r>
            <a:endParaRPr lang="en-US" sz="700"/>
          </a:p>
        </p:txBody>
      </p:sp>
      <p:pic>
        <p:nvPicPr>
          <p:cNvPr id="17" name="Picture 16" descr="A graph of a graph showing the difference between employment and wage&#10;&#10;AI-generated content may be incorrect.">
            <a:extLst>
              <a:ext uri="{FF2B5EF4-FFF2-40B4-BE49-F238E27FC236}">
                <a16:creationId xmlns:a16="http://schemas.microsoft.com/office/drawing/2014/main" id="{5295E4A7-7AC1-B3F7-D990-F44658C998E1}"/>
              </a:ext>
            </a:extLst>
          </p:cNvPr>
          <p:cNvPicPr>
            <a:picLocks noChangeAspect="1"/>
          </p:cNvPicPr>
          <p:nvPr/>
        </p:nvPicPr>
        <p:blipFill>
          <a:blip r:embed="rId3"/>
          <a:stretch>
            <a:fillRect/>
          </a:stretch>
        </p:blipFill>
        <p:spPr>
          <a:xfrm>
            <a:off x="569325" y="1371599"/>
            <a:ext cx="5533082" cy="42954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r>
              <a:rPr lang="en-US" sz="2500" b="1">
                <a:solidFill>
                  <a:srgbClr val="173A5E"/>
                </a:solidFill>
                <a:latin typeface="Aptos Display"/>
                <a:ea typeface="Aptos Display" pitchFamily="34" charset="-122"/>
                <a:cs typeface="Aptos Display" pitchFamily="34" charset="-120"/>
              </a:rPr>
              <a:t>Research Question 3: Wage Growth Trend</a:t>
            </a:r>
            <a:endParaRPr lang="en-US" sz="2500">
              <a:latin typeface="Aptos Display"/>
            </a:endParaRPr>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Do major shocks align with visible labor market shifts?</a:t>
            </a:r>
            <a:endParaRPr lang="en-US" sz="950"/>
          </a:p>
        </p:txBody>
      </p:sp>
      <p:sp>
        <p:nvSpPr>
          <p:cNvPr id="7" name="Text 5"/>
          <p:cNvSpPr/>
          <p:nvPr/>
        </p:nvSpPr>
        <p:spPr>
          <a:xfrm>
            <a:off x="1828800" y="2926080"/>
            <a:ext cx="5120640" cy="640080"/>
          </a:xfrm>
          <a:prstGeom prst="rect">
            <a:avLst/>
          </a:prstGeom>
          <a:noFill/>
          <a:ln/>
        </p:spPr>
        <p:txBody>
          <a:bodyPr wrap="square" lIns="0" tIns="0" rIns="0" bIns="0" rtlCol="0" anchor="ctr">
            <a:normAutofit fontScale="92500" lnSpcReduction="20000"/>
          </a:bodyPr>
          <a:lstStyle/>
          <a:p>
            <a:pPr marL="0" indent="0" algn="ctr">
              <a:buNone/>
            </a:pPr>
            <a:r>
              <a:rPr lang="en-US" sz="1800" b="1">
                <a:solidFill>
                  <a:srgbClr val="7B8794"/>
                </a:solidFill>
              </a:rPr>
              <a:t>PLACEHOLDER</a:t>
            </a:r>
            <a:endParaRPr lang="en-US" sz="1800"/>
          </a:p>
          <a:p>
            <a:pPr marL="0" indent="0" algn="ctr">
              <a:buNone/>
            </a:pPr>
            <a:r>
              <a:rPr lang="en-US" sz="1800" b="1">
                <a:solidFill>
                  <a:srgbClr val="7B8794"/>
                </a:solidFill>
              </a:rPr>
              <a:t>Tableau annotated time-series dashboard:</a:t>
            </a:r>
            <a:endParaRPr lang="en-US" sz="1800"/>
          </a:p>
          <a:p>
            <a:pPr marL="0" indent="0" algn="ctr">
              <a:buNone/>
            </a:pPr>
            <a:r>
              <a:rPr lang="en-US" sz="1800" b="1">
                <a:solidFill>
                  <a:srgbClr val="7B8794"/>
                </a:solidFill>
              </a:rPr>
              <a:t>Highlight 2020 shock and recovery period</a:t>
            </a:r>
            <a:endParaRPr lang="en-US" sz="1800"/>
          </a:p>
        </p:txBody>
      </p:sp>
      <p:sp>
        <p:nvSpPr>
          <p:cNvPr id="8" name="Shape 6"/>
          <p:cNvSpPr/>
          <p:nvPr/>
        </p:nvSpPr>
        <p:spPr>
          <a:xfrm>
            <a:off x="8458200" y="1371600"/>
            <a:ext cx="2743200" cy="1508760"/>
          </a:xfrm>
          <a:prstGeom prst="roundRect">
            <a:avLst>
              <a:gd name="adj" fmla="val 4848"/>
            </a:avLst>
          </a:prstGeom>
          <a:solidFill>
            <a:srgbClr val="FDF2F0"/>
          </a:solidFill>
          <a:ln w="12700">
            <a:solidFill>
              <a:srgbClr val="D7DEE8">
                <a:alpha val="70000"/>
              </a:srgbClr>
            </a:solidFill>
            <a:prstDash val="solid"/>
          </a:ln>
        </p:spPr>
        <p:txBody>
          <a:bodyPr/>
          <a:lstStyle/>
          <a:p>
            <a:endParaRPr lang="en-US"/>
          </a:p>
        </p:txBody>
      </p:sp>
      <p:sp>
        <p:nvSpPr>
          <p:cNvPr id="9" name="Text 7"/>
          <p:cNvSpPr/>
          <p:nvPr/>
        </p:nvSpPr>
        <p:spPr>
          <a:xfrm>
            <a:off x="8622792" y="1508760"/>
            <a:ext cx="2414016" cy="1280160"/>
          </a:xfrm>
          <a:prstGeom prst="rect">
            <a:avLst/>
          </a:prstGeom>
          <a:noFill/>
          <a:ln/>
        </p:spPr>
        <p:txBody>
          <a:bodyPr wrap="square" lIns="0" tIns="0" rIns="0" bIns="0" rtlCol="0" anchor="ctr">
            <a:normAutofit lnSpcReduction="10000"/>
          </a:bodyPr>
          <a:lstStyle/>
          <a:p>
            <a:pPr marL="0" indent="0">
              <a:buNone/>
            </a:pPr>
            <a:r>
              <a:rPr lang="en-US" sz="1300">
                <a:solidFill>
                  <a:srgbClr val="1F2937"/>
                </a:solidFill>
              </a:rPr>
              <a:t>Annotation ideas</a:t>
            </a:r>
            <a:endParaRPr lang="en-US" sz="1300"/>
          </a:p>
          <a:p>
            <a:pPr marL="0" indent="0">
              <a:buNone/>
            </a:pPr>
            <a:r>
              <a:rPr lang="en-US" sz="1300">
                <a:solidFill>
                  <a:srgbClr val="1F2937"/>
                </a:solidFill>
              </a:rPr>
              <a:t>• 2020 COVID labor-market disruption</a:t>
            </a:r>
            <a:endParaRPr lang="en-US" sz="1300"/>
          </a:p>
          <a:p>
            <a:pPr marL="0" indent="0">
              <a:buNone/>
            </a:pPr>
            <a:r>
              <a:rPr lang="en-US" sz="1300">
                <a:solidFill>
                  <a:srgbClr val="1F2937"/>
                </a:solidFill>
              </a:rPr>
              <a:t>• Recovery period</a:t>
            </a:r>
            <a:endParaRPr lang="en-US" sz="1300"/>
          </a:p>
          <a:p>
            <a:pPr marL="0" indent="0">
              <a:buNone/>
            </a:pPr>
            <a:r>
              <a:rPr lang="en-US" sz="1300">
                <a:solidFill>
                  <a:srgbClr val="1F2937"/>
                </a:solidFill>
              </a:rPr>
              <a:t>• Wage acceleration or stabilization</a:t>
            </a:r>
            <a:endParaRPr lang="en-US" sz="1300"/>
          </a:p>
          <a:p>
            <a:pPr marL="0" indent="0">
              <a:buNone/>
            </a:pPr>
            <a:r>
              <a:rPr lang="en-US" sz="1300">
                <a:solidFill>
                  <a:srgbClr val="1F2937"/>
                </a:solidFill>
              </a:rPr>
              <a:t>• Employment rebound</a:t>
            </a:r>
            <a:endParaRPr lang="en-US" sz="1300"/>
          </a:p>
        </p:txBody>
      </p:sp>
      <p:sp>
        <p:nvSpPr>
          <p:cNvPr id="10" name="Shape 8"/>
          <p:cNvSpPr/>
          <p:nvPr/>
        </p:nvSpPr>
        <p:spPr>
          <a:xfrm>
            <a:off x="8458200" y="3429000"/>
            <a:ext cx="2743200" cy="1371600"/>
          </a:xfrm>
          <a:prstGeom prst="roundRect">
            <a:avLst>
              <a:gd name="adj" fmla="val 5333"/>
            </a:avLst>
          </a:prstGeom>
          <a:solidFill>
            <a:srgbClr val="FFF7EC"/>
          </a:solidFill>
          <a:ln w="12700">
            <a:solidFill>
              <a:srgbClr val="D7DEE8">
                <a:alpha val="70000"/>
              </a:srgbClr>
            </a:solidFill>
            <a:prstDash val="solid"/>
          </a:ln>
        </p:spPr>
        <p:txBody>
          <a:bodyPr/>
          <a:lstStyle/>
          <a:p>
            <a:endParaRPr lang="en-US"/>
          </a:p>
        </p:txBody>
      </p:sp>
      <p:sp>
        <p:nvSpPr>
          <p:cNvPr id="11" name="Text 9"/>
          <p:cNvSpPr/>
          <p:nvPr/>
        </p:nvSpPr>
        <p:spPr>
          <a:xfrm>
            <a:off x="8622792" y="3566160"/>
            <a:ext cx="2414016" cy="1143000"/>
          </a:xfrm>
          <a:prstGeom prst="rect">
            <a:avLst/>
          </a:prstGeom>
          <a:noFill/>
          <a:ln/>
        </p:spPr>
        <p:txBody>
          <a:bodyPr wrap="square" lIns="0" tIns="0" rIns="0" bIns="0" rtlCol="0" anchor="ctr">
            <a:normAutofit/>
          </a:bodyPr>
          <a:lstStyle/>
          <a:p>
            <a:r>
              <a:rPr lang="en-US" sz="1100">
                <a:solidFill>
                  <a:srgbClr val="1F2937"/>
                </a:solidFill>
                <a:latin typeface="Segoe UI"/>
                <a:cs typeface="Segoe UI"/>
              </a:rPr>
              <a:t>Average hourly wages rose steadily across all periods, accelerating after 2020, suggesting wage growth continued despite COVID-related labor disruptions.</a:t>
            </a:r>
            <a:endParaRPr lang="en-US"/>
          </a:p>
          <a:p>
            <a:pPr marL="0" indent="0">
              <a:buNone/>
            </a:pPr>
            <a:r>
              <a:rPr lang="en-US" sz="1300">
                <a:solidFill>
                  <a:srgbClr val="1F2937"/>
                </a:solidFill>
              </a:rPr>
              <a:t>.</a:t>
            </a:r>
            <a:endParaRPr lang="en-US" sz="1300"/>
          </a:p>
        </p:txBody>
      </p:sp>
      <p:sp>
        <p:nvSpPr>
          <p:cNvPr id="12" name="Text 10"/>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3" name="Text 11"/>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08</a:t>
            </a:r>
            <a:endParaRPr lang="en-US" sz="700"/>
          </a:p>
        </p:txBody>
      </p:sp>
      <p:pic>
        <p:nvPicPr>
          <p:cNvPr id="14" name="Picture 13" descr="A graph showing the growth of a number of years&#10;&#10;AI-generated content may be incorrect.">
            <a:extLst>
              <a:ext uri="{FF2B5EF4-FFF2-40B4-BE49-F238E27FC236}">
                <a16:creationId xmlns:a16="http://schemas.microsoft.com/office/drawing/2014/main" id="{8EB1FC91-6167-58EA-9BBC-DFDFBBBB8A97}"/>
              </a:ext>
            </a:extLst>
          </p:cNvPr>
          <p:cNvPicPr>
            <a:picLocks noChangeAspect="1"/>
          </p:cNvPicPr>
          <p:nvPr/>
        </p:nvPicPr>
        <p:blipFill>
          <a:blip r:embed="rId3"/>
          <a:stretch>
            <a:fillRect/>
          </a:stretch>
        </p:blipFill>
        <p:spPr>
          <a:xfrm>
            <a:off x="345056" y="1471526"/>
            <a:ext cx="7735021" cy="39005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58044"/>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Key Findings &amp; Business Implications</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Replace bracketed text with final numbers after Tableau/Excel analysis</a:t>
            </a:r>
            <a:endParaRPr lang="en-US" sz="950"/>
          </a:p>
        </p:txBody>
      </p:sp>
      <p:sp>
        <p:nvSpPr>
          <p:cNvPr id="6" name="Shape 4"/>
          <p:cNvSpPr/>
          <p:nvPr/>
        </p:nvSpPr>
        <p:spPr>
          <a:xfrm>
            <a:off x="777240" y="1234440"/>
            <a:ext cx="3429000" cy="1188720"/>
          </a:xfrm>
          <a:prstGeom prst="roundRect">
            <a:avLst>
              <a:gd name="adj" fmla="val 6154"/>
            </a:avLst>
          </a:prstGeom>
          <a:solidFill>
            <a:srgbClr val="EEF6FB"/>
          </a:solidFill>
          <a:ln w="12700">
            <a:solidFill>
              <a:srgbClr val="D7DEE8">
                <a:alpha val="70000"/>
              </a:srgbClr>
            </a:solidFill>
            <a:prstDash val="solid"/>
          </a:ln>
        </p:spPr>
        <p:txBody>
          <a:bodyPr/>
          <a:lstStyle/>
          <a:p>
            <a:endParaRPr lang="en-US"/>
          </a:p>
        </p:txBody>
      </p:sp>
      <p:sp>
        <p:nvSpPr>
          <p:cNvPr id="7" name="Text 5"/>
          <p:cNvSpPr/>
          <p:nvPr/>
        </p:nvSpPr>
        <p:spPr>
          <a:xfrm>
            <a:off x="806365" y="1371600"/>
            <a:ext cx="3398971" cy="960120"/>
          </a:xfrm>
          <a:prstGeom prst="rect">
            <a:avLst/>
          </a:prstGeom>
          <a:noFill/>
          <a:ln/>
        </p:spPr>
        <p:txBody>
          <a:bodyPr wrap="square" lIns="0" tIns="0" rIns="0" bIns="0" rtlCol="0" anchor="ctr">
            <a:normAutofit fontScale="92500" lnSpcReduction="10000"/>
          </a:bodyPr>
          <a:lstStyle/>
          <a:p>
            <a:pPr>
              <a:buNone/>
            </a:pPr>
            <a:r>
              <a:rPr lang="en-US" b="1"/>
              <a:t>Finding 1</a:t>
            </a:r>
          </a:p>
          <a:p>
            <a:pPr marL="285750" indent="-285750">
              <a:buFont typeface="Arial"/>
              <a:buChar char="•"/>
            </a:pPr>
            <a:r>
              <a:rPr lang="en-US" sz="1300">
                <a:solidFill>
                  <a:srgbClr val="1F2937"/>
                </a:solidFill>
                <a:ea typeface="+mn-lt"/>
                <a:cs typeface="+mn-lt"/>
              </a:rPr>
              <a:t>Unemployment decreased overall (</a:t>
            </a:r>
            <a:r>
              <a:rPr lang="es-ES" sz="1300">
                <a:solidFill>
                  <a:srgbClr val="1F2937"/>
                </a:solidFill>
                <a:ea typeface="+mn-lt"/>
                <a:cs typeface="+mn-lt"/>
              </a:rPr>
              <a:t>2016-2026</a:t>
            </a:r>
            <a:r>
              <a:rPr lang="en-US" sz="1300">
                <a:solidFill>
                  <a:srgbClr val="1F2937"/>
                </a:solidFill>
                <a:ea typeface="+mn-lt"/>
                <a:cs typeface="+mn-lt"/>
              </a:rPr>
              <a:t>) </a:t>
            </a:r>
            <a:endParaRPr lang="en-US"/>
          </a:p>
          <a:p>
            <a:pPr marL="285750" indent="-285750">
              <a:buFont typeface="Arial"/>
              <a:buChar char="•"/>
            </a:pPr>
            <a:r>
              <a:rPr lang="en-US" sz="1300">
                <a:solidFill>
                  <a:srgbClr val="1F2937"/>
                </a:solidFill>
                <a:ea typeface="+mn-lt"/>
                <a:cs typeface="+mn-lt"/>
              </a:rPr>
              <a:t>Wages increased during the same period </a:t>
            </a:r>
            <a:endParaRPr lang="en-US"/>
          </a:p>
          <a:p>
            <a:pPr marL="285750" indent="-285750">
              <a:buFont typeface="Arial"/>
              <a:buChar char="•"/>
            </a:pPr>
            <a:r>
              <a:rPr lang="en-US" sz="1300">
                <a:solidFill>
                  <a:srgbClr val="1F2937"/>
                </a:solidFill>
                <a:ea typeface="+mn-lt"/>
                <a:cs typeface="+mn-lt"/>
              </a:rPr>
              <a:t>Moderate relationship between unemployment and wages</a:t>
            </a:r>
            <a:endParaRPr lang="en-US">
              <a:ea typeface="+mn-lt"/>
              <a:cs typeface="+mn-lt"/>
            </a:endParaRPr>
          </a:p>
          <a:p>
            <a:pPr marL="0" indent="0">
              <a:buNone/>
            </a:pPr>
            <a:endParaRPr lang="en-US" sz="1300">
              <a:solidFill>
                <a:srgbClr val="1F2937"/>
              </a:solidFill>
            </a:endParaRPr>
          </a:p>
        </p:txBody>
      </p:sp>
      <p:sp>
        <p:nvSpPr>
          <p:cNvPr id="8" name="Shape 6"/>
          <p:cNvSpPr/>
          <p:nvPr/>
        </p:nvSpPr>
        <p:spPr>
          <a:xfrm>
            <a:off x="4480560" y="1234440"/>
            <a:ext cx="3429000" cy="1188720"/>
          </a:xfrm>
          <a:prstGeom prst="roundRect">
            <a:avLst>
              <a:gd name="adj" fmla="val 6154"/>
            </a:avLst>
          </a:prstGeom>
          <a:solidFill>
            <a:srgbClr val="F0FAF8"/>
          </a:solidFill>
          <a:ln w="12700">
            <a:solidFill>
              <a:srgbClr val="D7DEE8">
                <a:alpha val="70000"/>
              </a:srgbClr>
            </a:solidFill>
            <a:prstDash val="solid"/>
          </a:ln>
        </p:spPr>
        <p:txBody>
          <a:bodyPr/>
          <a:lstStyle/>
          <a:p>
            <a:endParaRPr lang="en-US"/>
          </a:p>
        </p:txBody>
      </p:sp>
      <p:sp>
        <p:nvSpPr>
          <p:cNvPr id="9" name="Text 7"/>
          <p:cNvSpPr/>
          <p:nvPr/>
        </p:nvSpPr>
        <p:spPr>
          <a:xfrm>
            <a:off x="4628220" y="1388533"/>
            <a:ext cx="3376392" cy="960120"/>
          </a:xfrm>
          <a:prstGeom prst="rect">
            <a:avLst/>
          </a:prstGeom>
          <a:noFill/>
          <a:ln/>
        </p:spPr>
        <p:txBody>
          <a:bodyPr wrap="square" lIns="0" tIns="0" rIns="0" bIns="0" rtlCol="0" anchor="ctr">
            <a:normAutofit fontScale="92500" lnSpcReduction="20000"/>
          </a:bodyPr>
          <a:lstStyle/>
          <a:p>
            <a:pPr>
              <a:buNone/>
            </a:pPr>
            <a:r>
              <a:rPr lang="en-US" b="1"/>
              <a:t>Finding 2</a:t>
            </a:r>
          </a:p>
          <a:p>
            <a:pPr marL="285750" indent="-285750">
              <a:buFont typeface="Arial"/>
              <a:buChar char="•"/>
            </a:pPr>
            <a:r>
              <a:rPr lang="en-US" sz="1300">
                <a:solidFill>
                  <a:srgbClr val="1F2937"/>
                </a:solidFill>
                <a:ea typeface="+mn-lt"/>
                <a:cs typeface="+mn-lt"/>
              </a:rPr>
              <a:t>Employment is positively related to wages </a:t>
            </a:r>
            <a:endParaRPr lang="en-US"/>
          </a:p>
          <a:p>
            <a:pPr marL="285750" indent="-285750">
              <a:buFont typeface="Arial"/>
              <a:buChar char="•"/>
            </a:pPr>
            <a:r>
              <a:rPr lang="en-US" sz="1300">
                <a:solidFill>
                  <a:srgbClr val="1F2937"/>
                </a:solidFill>
                <a:ea typeface="+mn-lt"/>
                <a:cs typeface="+mn-lt"/>
              </a:rPr>
              <a:t>Regression shows a strong relationship (R² ≈ 0.69) </a:t>
            </a:r>
            <a:endParaRPr lang="en-US"/>
          </a:p>
          <a:p>
            <a:pPr marL="285750" indent="-285750">
              <a:buFont typeface="Arial"/>
              <a:buChar char="•"/>
            </a:pPr>
            <a:r>
              <a:rPr lang="en-US" sz="1300">
                <a:solidFill>
                  <a:srgbClr val="1F2937"/>
                </a:solidFill>
                <a:ea typeface="+mn-lt"/>
                <a:cs typeface="+mn-lt"/>
              </a:rPr>
              <a:t>Employment meaningfully predicts wage growth</a:t>
            </a:r>
            <a:endParaRPr lang="en-US">
              <a:ea typeface="+mn-lt"/>
              <a:cs typeface="+mn-lt"/>
            </a:endParaRPr>
          </a:p>
          <a:p>
            <a:pPr marL="0" indent="0">
              <a:buNone/>
            </a:pPr>
            <a:endParaRPr lang="en-US" sz="1300">
              <a:solidFill>
                <a:srgbClr val="1F2937"/>
              </a:solidFill>
            </a:endParaRPr>
          </a:p>
        </p:txBody>
      </p:sp>
      <p:sp>
        <p:nvSpPr>
          <p:cNvPr id="10" name="Shape 8"/>
          <p:cNvSpPr/>
          <p:nvPr/>
        </p:nvSpPr>
        <p:spPr>
          <a:xfrm>
            <a:off x="8183880" y="1234440"/>
            <a:ext cx="3429000" cy="1188720"/>
          </a:xfrm>
          <a:prstGeom prst="roundRect">
            <a:avLst>
              <a:gd name="adj" fmla="val 6154"/>
            </a:avLst>
          </a:prstGeom>
          <a:solidFill>
            <a:srgbClr val="FFF7EC"/>
          </a:solidFill>
          <a:ln w="12700">
            <a:solidFill>
              <a:srgbClr val="D7DEE8">
                <a:alpha val="70000"/>
              </a:srgbClr>
            </a:solidFill>
            <a:prstDash val="solid"/>
          </a:ln>
        </p:spPr>
        <p:txBody>
          <a:bodyPr/>
          <a:lstStyle/>
          <a:p>
            <a:endParaRPr lang="en-US"/>
          </a:p>
        </p:txBody>
      </p:sp>
      <p:sp>
        <p:nvSpPr>
          <p:cNvPr id="11" name="Text 9"/>
          <p:cNvSpPr/>
          <p:nvPr/>
        </p:nvSpPr>
        <p:spPr>
          <a:xfrm>
            <a:off x="8275095" y="1377244"/>
            <a:ext cx="3144971" cy="960120"/>
          </a:xfrm>
          <a:prstGeom prst="rect">
            <a:avLst/>
          </a:prstGeom>
          <a:noFill/>
          <a:ln/>
        </p:spPr>
        <p:txBody>
          <a:bodyPr wrap="square" lIns="0" tIns="0" rIns="0" bIns="0" rtlCol="0" anchor="ctr">
            <a:normAutofit fontScale="92500"/>
          </a:bodyPr>
          <a:lstStyle/>
          <a:p>
            <a:pPr>
              <a:buNone/>
            </a:pPr>
            <a:r>
              <a:rPr lang="en-US" b="1"/>
              <a:t>Finding 3</a:t>
            </a:r>
          </a:p>
          <a:p>
            <a:pPr marL="285750" indent="-285750">
              <a:buFont typeface="Arial"/>
              <a:buChar char="•"/>
            </a:pPr>
            <a:r>
              <a:rPr lang="en-US" sz="1300">
                <a:solidFill>
                  <a:srgbClr val="1F2937"/>
                </a:solidFill>
                <a:ea typeface="+mn-lt"/>
                <a:cs typeface="+mn-lt"/>
              </a:rPr>
              <a:t>Economic shocks caused noticeable shifts </a:t>
            </a:r>
            <a:endParaRPr lang="en-US"/>
          </a:p>
          <a:p>
            <a:pPr marL="285750" indent="-285750">
              <a:buFont typeface="Arial"/>
              <a:buChar char="•"/>
            </a:pPr>
            <a:r>
              <a:rPr lang="en-US" sz="1300">
                <a:solidFill>
                  <a:srgbClr val="1F2937"/>
                </a:solidFill>
                <a:ea typeface="+mn-lt"/>
                <a:cs typeface="+mn-lt"/>
              </a:rPr>
              <a:t>Biggest impact around 2020 (COVID period) </a:t>
            </a:r>
            <a:endParaRPr lang="en-US"/>
          </a:p>
          <a:p>
            <a:pPr marL="285750" indent="-285750">
              <a:buFont typeface="Arial"/>
              <a:buChar char="•"/>
            </a:pPr>
            <a:r>
              <a:rPr lang="en-US" sz="1300">
                <a:solidFill>
                  <a:srgbClr val="1F2937"/>
                </a:solidFill>
                <a:ea typeface="+mn-lt"/>
                <a:cs typeface="+mn-lt"/>
              </a:rPr>
              <a:t>Employment and wages were both affected </a:t>
            </a:r>
            <a:endParaRPr lang="en-US"/>
          </a:p>
          <a:p>
            <a:endParaRPr lang="en-US" sz="1300">
              <a:solidFill>
                <a:srgbClr val="1F2937"/>
              </a:solidFill>
            </a:endParaRPr>
          </a:p>
        </p:txBody>
      </p:sp>
      <p:sp>
        <p:nvSpPr>
          <p:cNvPr id="12" name="Text 10"/>
          <p:cNvSpPr/>
          <p:nvPr/>
        </p:nvSpPr>
        <p:spPr>
          <a:xfrm>
            <a:off x="822960" y="3108960"/>
            <a:ext cx="3657600" cy="274320"/>
          </a:xfrm>
          <a:prstGeom prst="rect">
            <a:avLst/>
          </a:prstGeom>
          <a:noFill/>
          <a:ln/>
        </p:spPr>
        <p:txBody>
          <a:bodyPr wrap="square" lIns="0" tIns="0" rIns="0" bIns="0" rtlCol="0" anchor="ctr"/>
          <a:lstStyle/>
          <a:p>
            <a:pPr marL="0" indent="0">
              <a:buNone/>
            </a:pPr>
            <a:r>
              <a:rPr lang="en-US" sz="1800" b="1">
                <a:solidFill>
                  <a:srgbClr val="173A5E"/>
                </a:solidFill>
              </a:rPr>
              <a:t>Implications for decision-makers</a:t>
            </a:r>
            <a:endParaRPr lang="en-US" sz="1800"/>
          </a:p>
        </p:txBody>
      </p:sp>
      <p:sp>
        <p:nvSpPr>
          <p:cNvPr id="13" name="Text 11"/>
          <p:cNvSpPr/>
          <p:nvPr/>
        </p:nvSpPr>
        <p:spPr>
          <a:xfrm>
            <a:off x="513081" y="3532859"/>
            <a:ext cx="4988559" cy="1384581"/>
          </a:xfrm>
          <a:prstGeom prst="rect">
            <a:avLst/>
          </a:prstGeom>
          <a:noFill/>
          <a:ln/>
        </p:spPr>
        <p:txBody>
          <a:bodyPr wrap="square" lIns="0" tIns="0" rIns="0" bIns="0" rtlCol="0" anchor="ctr">
            <a:normAutofit/>
          </a:bodyPr>
          <a:lstStyle/>
          <a:p>
            <a:pPr marL="285750" indent="-285750">
              <a:buFont typeface="Arial"/>
              <a:buChar char="•"/>
            </a:pPr>
            <a:r>
              <a:rPr lang="en-US" sz="1500">
                <a:solidFill>
                  <a:srgbClr val="1F2937"/>
                </a:solidFill>
                <a:ea typeface="+mn-lt"/>
                <a:cs typeface="+mn-lt"/>
              </a:rPr>
              <a:t>Employers: expect wage increases when employment rises </a:t>
            </a:r>
            <a:endParaRPr lang="en-US"/>
          </a:p>
          <a:p>
            <a:pPr marL="285750" indent="-285750">
              <a:buFont typeface="Arial"/>
              <a:buChar char="•"/>
            </a:pPr>
            <a:r>
              <a:rPr lang="en-US" sz="1500">
                <a:solidFill>
                  <a:srgbClr val="1F2937"/>
                </a:solidFill>
                <a:ea typeface="+mn-lt"/>
                <a:cs typeface="+mn-lt"/>
              </a:rPr>
              <a:t>Workforce planners: track employment + unemployment together </a:t>
            </a:r>
            <a:endParaRPr lang="en-US"/>
          </a:p>
          <a:p>
            <a:pPr marL="285750" indent="-285750">
              <a:buFont typeface="Arial"/>
              <a:buChar char="•"/>
            </a:pPr>
            <a:r>
              <a:rPr lang="en-US" sz="1500">
                <a:solidFill>
                  <a:srgbClr val="1F2937"/>
                </a:solidFill>
                <a:ea typeface="+mn-lt"/>
                <a:cs typeface="+mn-lt"/>
              </a:rPr>
              <a:t>Analysts: use multiple indicators, not just one </a:t>
            </a:r>
            <a:endParaRPr lang="en-US"/>
          </a:p>
          <a:p>
            <a:pPr marL="0" indent="0">
              <a:buNone/>
            </a:pPr>
            <a:endParaRPr lang="en-US" sz="1500">
              <a:solidFill>
                <a:srgbClr val="1F2937"/>
              </a:solidFill>
            </a:endParaRPr>
          </a:p>
        </p:txBody>
      </p:sp>
      <p:sp>
        <p:nvSpPr>
          <p:cNvPr id="14" name="Text 12"/>
          <p:cNvSpPr/>
          <p:nvPr/>
        </p:nvSpPr>
        <p:spPr>
          <a:xfrm>
            <a:off x="6537960" y="3108960"/>
            <a:ext cx="2743200" cy="274320"/>
          </a:xfrm>
          <a:prstGeom prst="rect">
            <a:avLst/>
          </a:prstGeom>
          <a:noFill/>
          <a:ln/>
        </p:spPr>
        <p:txBody>
          <a:bodyPr wrap="square" lIns="0" tIns="0" rIns="0" bIns="0" rtlCol="0" anchor="ctr"/>
          <a:lstStyle/>
          <a:p>
            <a:pPr marL="0" indent="0">
              <a:buNone/>
            </a:pPr>
            <a:r>
              <a:rPr lang="en-US" sz="1800" b="1">
                <a:solidFill>
                  <a:srgbClr val="173A5E"/>
                </a:solidFill>
              </a:rPr>
              <a:t>Portfolio message</a:t>
            </a:r>
            <a:endParaRPr lang="en-US" sz="1800"/>
          </a:p>
        </p:txBody>
      </p:sp>
      <p:sp>
        <p:nvSpPr>
          <p:cNvPr id="15" name="Text 13"/>
          <p:cNvSpPr/>
          <p:nvPr/>
        </p:nvSpPr>
        <p:spPr>
          <a:xfrm>
            <a:off x="6317036" y="3431258"/>
            <a:ext cx="4480560" cy="914400"/>
          </a:xfrm>
          <a:prstGeom prst="rect">
            <a:avLst/>
          </a:prstGeom>
          <a:noFill/>
          <a:ln/>
        </p:spPr>
        <p:txBody>
          <a:bodyPr wrap="square" lIns="0" tIns="0" rIns="0" bIns="0" rtlCol="0" anchor="ctr">
            <a:normAutofit/>
          </a:bodyPr>
          <a:lstStyle/>
          <a:p>
            <a:pPr marL="285750" indent="-285750">
              <a:buFont typeface="Arial"/>
              <a:buChar char="•"/>
            </a:pPr>
            <a:r>
              <a:rPr lang="en-US" sz="1500">
                <a:solidFill>
                  <a:srgbClr val="1F2937"/>
                </a:solidFill>
                <a:ea typeface="+mn-lt"/>
                <a:cs typeface="+mn-lt"/>
              </a:rPr>
              <a:t>Project is clear and easy to follow </a:t>
            </a:r>
            <a:endParaRPr lang="en-US"/>
          </a:p>
          <a:p>
            <a:pPr marL="285750" indent="-285750">
              <a:buFont typeface="Arial"/>
              <a:buChar char="•"/>
            </a:pPr>
            <a:r>
              <a:rPr lang="en-US" sz="1500">
                <a:solidFill>
                  <a:srgbClr val="1F2937"/>
                </a:solidFill>
                <a:ea typeface="+mn-lt"/>
                <a:cs typeface="+mn-lt"/>
              </a:rPr>
              <a:t>Data, visuals, and methods are well organized </a:t>
            </a:r>
            <a:endParaRPr lang="en-US"/>
          </a:p>
          <a:p>
            <a:pPr marL="285750" indent="-285750">
              <a:buFont typeface="Arial"/>
              <a:buChar char="•"/>
            </a:pPr>
            <a:r>
              <a:rPr lang="en-US" sz="1500">
                <a:solidFill>
                  <a:srgbClr val="1F2937"/>
                </a:solidFill>
                <a:ea typeface="+mn-lt"/>
                <a:cs typeface="+mn-lt"/>
              </a:rPr>
              <a:t>Conclusions are supported and easy to understand</a:t>
            </a:r>
            <a:endParaRPr lang="en-US"/>
          </a:p>
        </p:txBody>
      </p:sp>
      <p:sp>
        <p:nvSpPr>
          <p:cNvPr id="16" name="Text 14"/>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7" name="Text 15"/>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09</a:t>
            </a:r>
            <a:endParaRPr lang="en-US" sz="7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GitHub Repository &amp; Final Submission Checklist</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What to upload for the final deliverable</a:t>
            </a:r>
            <a:endParaRPr lang="en-US" sz="950"/>
          </a:p>
        </p:txBody>
      </p:sp>
      <p:sp>
        <p:nvSpPr>
          <p:cNvPr id="6" name="Shape 4"/>
          <p:cNvSpPr/>
          <p:nvPr/>
        </p:nvSpPr>
        <p:spPr>
          <a:xfrm>
            <a:off x="914400" y="1271016"/>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7" name="Text 5"/>
          <p:cNvSpPr/>
          <p:nvPr/>
        </p:nvSpPr>
        <p:spPr>
          <a:xfrm>
            <a:off x="955548" y="1284732"/>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8" name="Text 6"/>
          <p:cNvSpPr/>
          <p:nvPr/>
        </p:nvSpPr>
        <p:spPr>
          <a:xfrm>
            <a:off x="1298448" y="1234440"/>
            <a:ext cx="6217920" cy="274320"/>
          </a:xfrm>
          <a:prstGeom prst="rect">
            <a:avLst/>
          </a:prstGeom>
          <a:noFill/>
          <a:ln/>
        </p:spPr>
        <p:txBody>
          <a:bodyPr wrap="square" lIns="0" tIns="0" rIns="0" bIns="0" rtlCol="0" anchor="ctr"/>
          <a:lstStyle/>
          <a:p>
            <a:r>
              <a:rPr lang="en-US" sz="1500">
                <a:solidFill>
                  <a:srgbClr val="1F2937"/>
                </a:solidFill>
                <a:ea typeface="+mn-lt"/>
                <a:cs typeface="+mn-lt"/>
              </a:rPr>
              <a:t>Dataset (Excel file used)</a:t>
            </a:r>
            <a:endParaRPr lang="en-US"/>
          </a:p>
        </p:txBody>
      </p:sp>
      <p:sp>
        <p:nvSpPr>
          <p:cNvPr id="9" name="Shape 7"/>
          <p:cNvSpPr/>
          <p:nvPr/>
        </p:nvSpPr>
        <p:spPr>
          <a:xfrm>
            <a:off x="914400" y="1929384"/>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10" name="Text 8"/>
          <p:cNvSpPr/>
          <p:nvPr/>
        </p:nvSpPr>
        <p:spPr>
          <a:xfrm>
            <a:off x="955548" y="1943100"/>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11" name="Text 9"/>
          <p:cNvSpPr/>
          <p:nvPr/>
        </p:nvSpPr>
        <p:spPr>
          <a:xfrm>
            <a:off x="1298448" y="1892808"/>
            <a:ext cx="6217920" cy="274320"/>
          </a:xfrm>
          <a:prstGeom prst="rect">
            <a:avLst/>
          </a:prstGeom>
          <a:noFill/>
          <a:ln/>
        </p:spPr>
        <p:txBody>
          <a:bodyPr wrap="square" lIns="0" tIns="0" rIns="0" bIns="0" rtlCol="0" anchor="ctr"/>
          <a:lstStyle/>
          <a:p>
            <a:r>
              <a:rPr lang="en-US" sz="1500">
                <a:solidFill>
                  <a:srgbClr val="1F2937"/>
                </a:solidFill>
                <a:ea typeface="+mn-lt"/>
                <a:cs typeface="+mn-lt"/>
              </a:rPr>
              <a:t>Presentation slides (PowerPoint)</a:t>
            </a:r>
            <a:endParaRPr lang="en-US"/>
          </a:p>
        </p:txBody>
      </p:sp>
      <p:sp>
        <p:nvSpPr>
          <p:cNvPr id="12" name="Shape 10"/>
          <p:cNvSpPr/>
          <p:nvPr/>
        </p:nvSpPr>
        <p:spPr>
          <a:xfrm>
            <a:off x="914400" y="2587752"/>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13" name="Text 11"/>
          <p:cNvSpPr/>
          <p:nvPr/>
        </p:nvSpPr>
        <p:spPr>
          <a:xfrm>
            <a:off x="955548" y="2601468"/>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14" name="Text 12"/>
          <p:cNvSpPr/>
          <p:nvPr/>
        </p:nvSpPr>
        <p:spPr>
          <a:xfrm>
            <a:off x="1298448" y="2551176"/>
            <a:ext cx="6217920" cy="274320"/>
          </a:xfrm>
          <a:prstGeom prst="rect">
            <a:avLst/>
          </a:prstGeom>
          <a:noFill/>
          <a:ln/>
        </p:spPr>
        <p:txBody>
          <a:bodyPr wrap="square" lIns="0" tIns="0" rIns="0" bIns="0" rtlCol="0" anchor="ctr"/>
          <a:lstStyle/>
          <a:p>
            <a:r>
              <a:rPr lang="en-US" sz="1500">
                <a:solidFill>
                  <a:srgbClr val="1F2937"/>
                </a:solidFill>
                <a:ea typeface="+mn-lt"/>
                <a:cs typeface="+mn-lt"/>
              </a:rPr>
              <a:t>Working file (Excel/Tableau)</a:t>
            </a:r>
            <a:endParaRPr lang="en-US"/>
          </a:p>
        </p:txBody>
      </p:sp>
      <p:sp>
        <p:nvSpPr>
          <p:cNvPr id="15" name="Shape 13"/>
          <p:cNvSpPr/>
          <p:nvPr/>
        </p:nvSpPr>
        <p:spPr>
          <a:xfrm>
            <a:off x="914400" y="3246120"/>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16" name="Text 14"/>
          <p:cNvSpPr/>
          <p:nvPr/>
        </p:nvSpPr>
        <p:spPr>
          <a:xfrm>
            <a:off x="955548" y="3259836"/>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17" name="Text 15"/>
          <p:cNvSpPr/>
          <p:nvPr/>
        </p:nvSpPr>
        <p:spPr>
          <a:xfrm>
            <a:off x="1298448" y="3209544"/>
            <a:ext cx="6217920" cy="274320"/>
          </a:xfrm>
          <a:prstGeom prst="rect">
            <a:avLst/>
          </a:prstGeom>
          <a:noFill/>
          <a:ln/>
        </p:spPr>
        <p:txBody>
          <a:bodyPr wrap="square" lIns="0" tIns="0" rIns="0" bIns="0" rtlCol="0" anchor="ctr"/>
          <a:lstStyle/>
          <a:p>
            <a:pPr marL="0" indent="0">
              <a:buNone/>
            </a:pPr>
            <a:r>
              <a:rPr lang="en-US" sz="1500">
                <a:solidFill>
                  <a:srgbClr val="1F2937"/>
                </a:solidFill>
                <a:ea typeface="+mn-lt"/>
                <a:cs typeface="+mn-lt"/>
              </a:rPr>
              <a:t>README (questions, method, findings)</a:t>
            </a:r>
            <a:endParaRPr lang="en-US"/>
          </a:p>
        </p:txBody>
      </p:sp>
      <p:sp>
        <p:nvSpPr>
          <p:cNvPr id="18" name="Shape 16"/>
          <p:cNvSpPr/>
          <p:nvPr/>
        </p:nvSpPr>
        <p:spPr>
          <a:xfrm>
            <a:off x="914400" y="3904488"/>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19" name="Text 17"/>
          <p:cNvSpPr/>
          <p:nvPr/>
        </p:nvSpPr>
        <p:spPr>
          <a:xfrm>
            <a:off x="955548" y="3918204"/>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20" name="Text 18"/>
          <p:cNvSpPr/>
          <p:nvPr/>
        </p:nvSpPr>
        <p:spPr>
          <a:xfrm>
            <a:off x="1298448" y="3867912"/>
            <a:ext cx="6217920" cy="274320"/>
          </a:xfrm>
          <a:prstGeom prst="rect">
            <a:avLst/>
          </a:prstGeom>
          <a:noFill/>
          <a:ln/>
        </p:spPr>
        <p:txBody>
          <a:bodyPr wrap="square" lIns="0" tIns="0" rIns="0" bIns="0" rtlCol="0" anchor="ctr"/>
          <a:lstStyle/>
          <a:p>
            <a:r>
              <a:rPr lang="en-US" sz="1500">
                <a:solidFill>
                  <a:srgbClr val="1F2937"/>
                </a:solidFill>
                <a:ea typeface="+mn-lt"/>
                <a:cs typeface="+mn-lt"/>
              </a:rPr>
              <a:t>Business report (conclusions + recommendations)</a:t>
            </a:r>
            <a:endParaRPr lang="en-US"/>
          </a:p>
        </p:txBody>
      </p:sp>
      <p:sp>
        <p:nvSpPr>
          <p:cNvPr id="21" name="Shape 19"/>
          <p:cNvSpPr/>
          <p:nvPr/>
        </p:nvSpPr>
        <p:spPr>
          <a:xfrm>
            <a:off x="914400" y="4562856"/>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22" name="Text 20"/>
          <p:cNvSpPr/>
          <p:nvPr/>
        </p:nvSpPr>
        <p:spPr>
          <a:xfrm>
            <a:off x="955548" y="4576572"/>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23" name="Text 21"/>
          <p:cNvSpPr/>
          <p:nvPr/>
        </p:nvSpPr>
        <p:spPr>
          <a:xfrm>
            <a:off x="1298448" y="4526280"/>
            <a:ext cx="6217920" cy="274320"/>
          </a:xfrm>
          <a:prstGeom prst="rect">
            <a:avLst/>
          </a:prstGeom>
          <a:noFill/>
          <a:ln/>
        </p:spPr>
        <p:txBody>
          <a:bodyPr wrap="square" lIns="0" tIns="0" rIns="0" bIns="0" rtlCol="0" anchor="ctr"/>
          <a:lstStyle/>
          <a:p>
            <a:r>
              <a:rPr lang="en-US" sz="1500">
                <a:solidFill>
                  <a:srgbClr val="1F2937"/>
                </a:solidFill>
                <a:ea typeface="+mn-lt"/>
                <a:cs typeface="+mn-lt"/>
              </a:rPr>
              <a:t>Visuals (charts/screenshots) </a:t>
            </a:r>
            <a:endParaRPr lang="en-US"/>
          </a:p>
        </p:txBody>
      </p:sp>
      <p:sp>
        <p:nvSpPr>
          <p:cNvPr id="24" name="Shape 22"/>
          <p:cNvSpPr/>
          <p:nvPr/>
        </p:nvSpPr>
        <p:spPr>
          <a:xfrm>
            <a:off x="7680960" y="1508760"/>
            <a:ext cx="3383280" cy="1920240"/>
          </a:xfrm>
          <a:prstGeom prst="roundRect">
            <a:avLst>
              <a:gd name="adj" fmla="val 3810"/>
            </a:avLst>
          </a:prstGeom>
          <a:solidFill>
            <a:srgbClr val="EEF6FB"/>
          </a:solidFill>
          <a:ln w="12700">
            <a:solidFill>
              <a:srgbClr val="D7DEE8">
                <a:alpha val="70000"/>
              </a:srgbClr>
            </a:solidFill>
            <a:prstDash val="solid"/>
          </a:ln>
        </p:spPr>
        <p:txBody>
          <a:bodyPr/>
          <a:lstStyle/>
          <a:p>
            <a:endParaRPr lang="en-US"/>
          </a:p>
        </p:txBody>
      </p:sp>
      <p:sp>
        <p:nvSpPr>
          <p:cNvPr id="25" name="Text 23"/>
          <p:cNvSpPr/>
          <p:nvPr/>
        </p:nvSpPr>
        <p:spPr>
          <a:xfrm>
            <a:off x="7845552" y="1645920"/>
            <a:ext cx="3054096" cy="1691640"/>
          </a:xfrm>
          <a:prstGeom prst="rect">
            <a:avLst/>
          </a:prstGeom>
          <a:noFill/>
          <a:ln/>
        </p:spPr>
        <p:txBody>
          <a:bodyPr wrap="square" lIns="0" tIns="0" rIns="0" bIns="0" rtlCol="0" anchor="ctr">
            <a:normAutofit lnSpcReduction="10000"/>
          </a:bodyPr>
          <a:lstStyle/>
          <a:p>
            <a:r>
              <a:rPr lang="en-US" b="1"/>
              <a:t>Closing statement</a:t>
            </a:r>
            <a:endParaRPr lang="en-US"/>
          </a:p>
          <a:p>
            <a:pPr marL="285750" indent="-285750">
              <a:buFont typeface="Arial"/>
              <a:buChar char="•"/>
            </a:pPr>
            <a:r>
              <a:rPr lang="en-US" sz="1300">
                <a:solidFill>
                  <a:srgbClr val="1F2937"/>
                </a:solidFill>
                <a:ea typeface="+mn-lt"/>
                <a:cs typeface="+mn-lt"/>
              </a:rPr>
              <a:t>Analyzes NC labor market trends (2015–2024) </a:t>
            </a:r>
            <a:endParaRPr lang="en-US"/>
          </a:p>
          <a:p>
            <a:pPr marL="285750" indent="-285750">
              <a:buFont typeface="Arial"/>
              <a:buChar char="•"/>
            </a:pPr>
            <a:r>
              <a:rPr lang="en-US" sz="1300">
                <a:solidFill>
                  <a:srgbClr val="1F2937"/>
                </a:solidFill>
                <a:ea typeface="+mn-lt"/>
                <a:cs typeface="+mn-lt"/>
              </a:rPr>
              <a:t>Links unemployment, employment, and wages </a:t>
            </a:r>
            <a:endParaRPr lang="en-US"/>
          </a:p>
          <a:p>
            <a:pPr marL="285750" indent="-285750">
              <a:buFont typeface="Arial"/>
              <a:buChar char="•"/>
            </a:pPr>
            <a:r>
              <a:rPr lang="en-US" sz="1300">
                <a:solidFill>
                  <a:srgbClr val="1F2937"/>
                </a:solidFill>
                <a:ea typeface="+mn-lt"/>
                <a:cs typeface="+mn-lt"/>
              </a:rPr>
              <a:t>Shows impact of economic shocks (2020) </a:t>
            </a:r>
            <a:endParaRPr lang="en-US"/>
          </a:p>
          <a:p>
            <a:pPr marL="285750" indent="-285750">
              <a:buFont typeface="Arial"/>
              <a:buChar char="•"/>
            </a:pPr>
            <a:r>
              <a:rPr lang="en-US" sz="1300">
                <a:solidFill>
                  <a:srgbClr val="1F2937"/>
                </a:solidFill>
                <a:ea typeface="+mn-lt"/>
                <a:cs typeface="+mn-lt"/>
              </a:rPr>
              <a:t>Organized in a clear, professional GitHub portfolio</a:t>
            </a:r>
            <a:endParaRPr lang="en-US"/>
          </a:p>
        </p:txBody>
      </p:sp>
      <p:sp>
        <p:nvSpPr>
          <p:cNvPr id="26" name="Text 24"/>
          <p:cNvSpPr/>
          <p:nvPr/>
        </p:nvSpPr>
        <p:spPr>
          <a:xfrm>
            <a:off x="7681527" y="4149231"/>
            <a:ext cx="2673206" cy="1072444"/>
          </a:xfrm>
          <a:prstGeom prst="rect">
            <a:avLst/>
          </a:prstGeom>
          <a:noFill/>
          <a:ln/>
        </p:spPr>
        <p:txBody>
          <a:bodyPr wrap="square" lIns="0" tIns="0" rIns="0" bIns="0" rtlCol="0" anchor="ctr"/>
          <a:lstStyle/>
          <a:p>
            <a:pPr marL="0" indent="0">
              <a:buNone/>
            </a:pPr>
            <a:r>
              <a:rPr lang="en-US" sz="3400" b="1">
                <a:solidFill>
                  <a:srgbClr val="173A5E"/>
                </a:solidFill>
                <a:latin typeface="Aptos Display" pitchFamily="34" charset="0"/>
                <a:ea typeface="Aptos Display" pitchFamily="34" charset="-122"/>
                <a:cs typeface="Aptos Display" pitchFamily="34" charset="-120"/>
              </a:rPr>
              <a:t>Q&amp;A</a:t>
            </a:r>
          </a:p>
          <a:p>
            <a:r>
              <a:rPr lang="en-US" sz="1300">
                <a:solidFill>
                  <a:srgbClr val="173A5E"/>
                </a:solidFill>
                <a:ea typeface="+mn-lt"/>
                <a:cs typeface="+mn-lt"/>
              </a:rPr>
              <a:t>Open for questions</a:t>
            </a:r>
            <a:endParaRPr lang="en-US" sz="1300">
              <a:ea typeface="+mn-lt"/>
              <a:cs typeface="+mn-lt"/>
            </a:endParaRPr>
          </a:p>
        </p:txBody>
      </p:sp>
      <p:sp>
        <p:nvSpPr>
          <p:cNvPr id="27" name="Text 25"/>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28" name="Text 26"/>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10</a:t>
            </a:r>
            <a:endParaRPr lang="en-US" sz="700"/>
          </a:p>
        </p:txBody>
      </p:sp>
      <p:pic>
        <p:nvPicPr>
          <p:cNvPr id="29" name="Picture 28" descr="A screenshot of a web page&#10;&#10;AI-generated content may be incorrect.">
            <a:extLst>
              <a:ext uri="{FF2B5EF4-FFF2-40B4-BE49-F238E27FC236}">
                <a16:creationId xmlns:a16="http://schemas.microsoft.com/office/drawing/2014/main" id="{9F18F49A-AA12-F790-AA2A-21DE2C1581EF}"/>
              </a:ext>
            </a:extLst>
          </p:cNvPr>
          <p:cNvPicPr>
            <a:picLocks noChangeAspect="1"/>
          </p:cNvPicPr>
          <p:nvPr/>
        </p:nvPicPr>
        <p:blipFill>
          <a:blip r:embed="rId3"/>
          <a:stretch>
            <a:fillRect/>
          </a:stretch>
        </p:blipFill>
        <p:spPr>
          <a:xfrm>
            <a:off x="1773" y="0"/>
            <a:ext cx="11929049" cy="69768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Grand écran</PresentationFormat>
  <Slides>10</Slides>
  <Notes>10</Notes>
  <HiddenSlides>0</HiddenSlides>
  <ScaleCrop>false</ScaleCrop>
  <HeadingPairs>
    <vt:vector size="4" baseType="variant">
      <vt:variant>
        <vt:lpstr>Thème</vt:lpstr>
      </vt:variant>
      <vt:variant>
        <vt:i4>1</vt:i4>
      </vt:variant>
      <vt:variant>
        <vt:lpstr>Titres des diapositives</vt:lpstr>
      </vt:variant>
      <vt:variant>
        <vt:i4>10</vt:i4>
      </vt:variant>
    </vt:vector>
  </HeadingPairs>
  <TitlesOfParts>
    <vt:vector size="11"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ChatGPT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Carolina Labor Market Trends</dc:title>
  <dc:subject>BUS 446 Final Project Presentation</dc:subject>
  <dc:creator>OpenAI</dc:creator>
  <cp:lastModifiedBy>Teran, Claudia</cp:lastModifiedBy>
  <cp:revision>1</cp:revision>
  <dcterms:created xsi:type="dcterms:W3CDTF">2026-04-23T23:50:59Z</dcterms:created>
  <dcterms:modified xsi:type="dcterms:W3CDTF">2026-04-27T13:14:38Z</dcterms:modified>
</cp:coreProperties>
</file>